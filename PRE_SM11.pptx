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Roboto Mono" panose="020F0502020204030204" pitchFamily="49" charset="0"/>
      <p:regular r:id="rId28"/>
      <p:bold r:id="rId29"/>
      <p:italic r:id="rId30"/>
      <p:boldItalic r:id="rId31"/>
    </p:embeddedFont>
    <p:embeddedFont>
      <p:font typeface="Roche Sans" panose="020B0504030201040101" pitchFamily="34" charset="0"/>
      <p:regular r:id="rId32"/>
      <p:bold r:id="rId33"/>
      <p:italic r:id="rId34"/>
      <p:boldItalic r:id="rId35"/>
    </p:embeddedFont>
    <p:embeddedFont>
      <p:font typeface="Roche Sans Condensed Light" panose="020B0306030201040101" pitchFamily="34" charset="0"/>
      <p:regular r:id="rId36"/>
      <p:bold r:id="rId37"/>
      <p:italic r:id="rId38"/>
      <p:boldItalic r:id="rId39"/>
    </p:embeddedFont>
    <p:embeddedFont>
      <p:font typeface="Roche Sans Light" panose="020F0502020204030204" pitchFamily="34" charset="0"/>
      <p:regular r:id="rId40"/>
      <p:bold r:id="rId41"/>
      <p:italic r:id="rId42"/>
      <p:boldItalic r:id="rId43"/>
    </p:embeddedFont>
    <p:embeddedFont>
      <p:font typeface="Roche Sans Medium" panose="020F0502020204030204" pitchFamily="34" charset="0"/>
      <p:regular r:id="rId44"/>
      <p:bold r:id="rId45"/>
      <p:italic r:id="rId46"/>
      <p:boldItalic r:id="rId47"/>
    </p:embeddedFont>
    <p:embeddedFont>
      <p:font typeface="Roche Serif Light" panose="020F0502020204030204" pitchFamily="18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2D676B-91A0-4259-BEE7-1C890A877DE3}">
  <a:tblStyle styleId="{1F2D676B-91A0-4259-BEE7-1C890A877D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font" Target="fonts/font23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font" Target="fonts/font2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huse.s3.eu-central-1.amazonaws.com/Archive/2024/Connect/US/Bethesda/PAP_OS05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SLIDES_API1127075888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SLIDES_API1127075888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SLIDES_API1127075888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SLIDES_API1127075888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09b1258e3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09b1258e3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09b147f7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409b147f7a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S_API1127075888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S_API1127075888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Mention: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Any company could create their own admiral extension package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Existing PHUSE US presentation and paper about admiralroche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https://phuse.s3.eu-central-1.amazonaws.com/Archive/2024/Connect/US/Bethesda/PAP_OS05.pdf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409b1258e34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409b1258e34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09af1b4c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09af1b4c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409b1258e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409b1258e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09b8f213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409b8f213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2ee23a795a19954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2ee23a795a19954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09b1258e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09b1258e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09b8f2139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409b8f2139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09b8f213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09b8f213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09b8f21399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09b8f21399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2ee23a795a19954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2ee23a795a19954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409af1b4c3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409af1b4c3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409b8f21399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409b8f21399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12b98675d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12b98675d3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2ee23a795a199540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h2ee23a795a199540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409b1258e3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409b1258e3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409b1258e34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409b1258e34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Mention:</a:t>
            </a:r>
            <a:endParaRPr b="1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b="1"/>
              <a:t>Chunks could be unit-tested</a:t>
            </a:r>
            <a:endParaRPr b="1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412b98675d3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412b98675d3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412b98675d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412b98675d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a137fdfa98cd2e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ha137fdfa98cd2e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a137fdfa98cd2e7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ha137fdfa98cd2e7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- Blank" type="title">
  <p:cSld name="TITLE">
    <p:bg>
      <p:bgPr>
        <a:solidFill>
          <a:srgbClr val="000000">
            <a:alpha val="0"/>
          </a:srgbClr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FA7B17"/>
          </p15:clr>
        </p15:guide>
        <p15:guide id="2" orient="horz" pos="3075">
          <p15:clr>
            <a:srgbClr val="FA7B17"/>
          </p15:clr>
        </p15:guide>
        <p15:guide id="3" pos="360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a - Cover">
  <p:cSld name="TITLE_2_1">
    <p:bg>
      <p:bgPr>
        <a:solidFill>
          <a:srgbClr val="F5F5F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-75" y="-3375"/>
            <a:ext cx="9144000" cy="51504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4572000" y="1394801"/>
            <a:ext cx="4229100" cy="1581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4572100" y="3040033"/>
            <a:ext cx="42291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6" name="Google Shape;16;p3"/>
          <p:cNvSpPr>
            <a:spLocks noGrp="1"/>
          </p:cNvSpPr>
          <p:nvPr>
            <p:ph type="pic" idx="2"/>
          </p:nvPr>
        </p:nvSpPr>
        <p:spPr>
          <a:xfrm>
            <a:off x="0" y="-3450"/>
            <a:ext cx="4127100" cy="5150400"/>
          </a:xfrm>
          <a:prstGeom prst="rect">
            <a:avLst/>
          </a:prstGeom>
          <a:noFill/>
          <a:ln>
            <a:noFill/>
          </a:ln>
        </p:spPr>
      </p: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8632" y="264809"/>
            <a:ext cx="598050" cy="3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subTitle" idx="3"/>
          </p:nvPr>
        </p:nvSpPr>
        <p:spPr>
          <a:xfrm>
            <a:off x="4572100" y="3542642"/>
            <a:ext cx="4229100" cy="5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4"/>
          </p:nvPr>
        </p:nvSpPr>
        <p:spPr>
          <a:xfrm>
            <a:off x="4572100" y="4846784"/>
            <a:ext cx="42291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b - Alternative cover">
  <p:cSld name="TITLE_1">
    <p:bg>
      <p:bgPr>
        <a:solidFill>
          <a:srgbClr val="F5F5F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75" y="-3375"/>
            <a:ext cx="9144000" cy="51504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571450" y="2393733"/>
            <a:ext cx="6549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06B69"/>
              </a:solidFill>
              <a:latin typeface="Roche Sans Condensed Light"/>
              <a:ea typeface="Roche Sans Condensed Light"/>
              <a:cs typeface="Roche Sans Condensed Light"/>
              <a:sym typeface="Roche Sans Condensed Light"/>
            </a:endParaRPr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571450" y="2393733"/>
            <a:ext cx="6549900" cy="43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571450" y="586475"/>
            <a:ext cx="6976800" cy="169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8632" y="264809"/>
            <a:ext cx="598050" cy="3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subTitle" idx="2"/>
          </p:nvPr>
        </p:nvSpPr>
        <p:spPr>
          <a:xfrm>
            <a:off x="571450" y="2912299"/>
            <a:ext cx="4495200" cy="5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3"/>
          </p:nvPr>
        </p:nvSpPr>
        <p:spPr>
          <a:xfrm>
            <a:off x="6016200" y="4840375"/>
            <a:ext cx="27849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  <p:pic>
        <p:nvPicPr>
          <p:cNvPr id="28" name="Google Shape;2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7075" y="123189"/>
            <a:ext cx="599200" cy="6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Chapter divider" type="secHead">
  <p:cSld name="SECTION_HEADER">
    <p:bg>
      <p:bgPr>
        <a:solidFill>
          <a:srgbClr val="F5F5F2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-75" y="-3375"/>
            <a:ext cx="9144000" cy="51504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571450" y="123200"/>
            <a:ext cx="8260800" cy="841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/>
          <p:nvPr/>
        </p:nvSpPr>
        <p:spPr>
          <a:xfrm rot="5400000">
            <a:off x="9126141" y="2565750"/>
            <a:ext cx="24900" cy="120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8632" y="264809"/>
            <a:ext cx="598050" cy="32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7075" y="123189"/>
            <a:ext cx="599200" cy="6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able of contents">
  <p:cSld name="SECTION_HEADER_2">
    <p:bg>
      <p:bgPr>
        <a:solidFill>
          <a:srgbClr val="F5F5F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-75" y="-3375"/>
            <a:ext cx="9144000" cy="51504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571450" y="2150850"/>
            <a:ext cx="4304400" cy="841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5641200" y="586475"/>
            <a:ext cx="3159900" cy="393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/>
            </a:lvl1pPr>
            <a:lvl2pPr marL="914400" lvl="1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2pPr>
            <a:lvl3pPr marL="1371600" lvl="2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8632" y="264809"/>
            <a:ext cx="598050" cy="32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rpose statement">
  <p:cSld name="SECTION_HEADER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-75" y="-3375"/>
            <a:ext cx="9144000" cy="515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7"/>
          <p:cNvSpPr txBox="1"/>
          <p:nvPr/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B41CD"/>
                </a:solidFill>
                <a:latin typeface="Roche Sans Medium"/>
                <a:ea typeface="Roche Sans Medium"/>
                <a:cs typeface="Roche Sans Medium"/>
                <a:sym typeface="Roche Sans Medium"/>
              </a:rPr>
              <a:t>Doing now what patients need next</a:t>
            </a:r>
            <a:endParaRPr sz="2000">
              <a:solidFill>
                <a:srgbClr val="0B41CD"/>
              </a:solidFill>
              <a:latin typeface="Roche Sans Medium"/>
              <a:ea typeface="Roche Sans Medium"/>
              <a:cs typeface="Roche Sans Medium"/>
              <a:sym typeface="Roche Sans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a - Title and 1 column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571450" y="242475"/>
            <a:ext cx="74316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ubTitle" idx="1"/>
          </p:nvPr>
        </p:nvSpPr>
        <p:spPr>
          <a:xfrm>
            <a:off x="571450" y="813600"/>
            <a:ext cx="7431600" cy="324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2"/>
          </p:nvPr>
        </p:nvSpPr>
        <p:spPr>
          <a:xfrm>
            <a:off x="571450" y="1442675"/>
            <a:ext cx="8229600" cy="3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400"/>
            </a:lvl1pPr>
            <a:lvl2pPr marL="914400" lvl="1" indent="-30480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2pPr>
            <a:lvl3pPr marL="1371600" lvl="2" indent="-3048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pic>
        <p:nvPicPr>
          <p:cNvPr id="47" name="Google Shape;4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07075" y="123189"/>
            <a:ext cx="599200" cy="6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b - Title and 1 column with picture">
  <p:cSld name="TITLE_AND_BODY_4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>
            <a:spLocks noGrp="1"/>
          </p:cNvSpPr>
          <p:nvPr>
            <p:ph type="pic" idx="2"/>
          </p:nvPr>
        </p:nvSpPr>
        <p:spPr>
          <a:xfrm>
            <a:off x="5609275" y="1436225"/>
            <a:ext cx="3534600" cy="33990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571450" y="1442675"/>
            <a:ext cx="4694700" cy="3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400"/>
            </a:lvl1pPr>
            <a:lvl2pPr marL="914400" lvl="1" indent="-30480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2pPr>
            <a:lvl3pPr marL="1371600" lvl="2" indent="-3048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3"/>
          </p:nvPr>
        </p:nvSpPr>
        <p:spPr>
          <a:xfrm>
            <a:off x="571450" y="813600"/>
            <a:ext cx="7431600" cy="324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571450" y="432675"/>
            <a:ext cx="74316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- Title only">
  <p:cSld name="TITLE_AND_BODY_3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subTitle" idx="1"/>
          </p:nvPr>
        </p:nvSpPr>
        <p:spPr>
          <a:xfrm>
            <a:off x="571450" y="813600"/>
            <a:ext cx="7430400" cy="324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572400" y="432000"/>
            <a:ext cx="74304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- Title and 3 columns">
  <p:cSld name="TITLE_AND_BODY_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 flipH="1">
            <a:off x="571400" y="1442675"/>
            <a:ext cx="2609100" cy="3360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2"/>
          </p:nvPr>
        </p:nvSpPr>
        <p:spPr>
          <a:xfrm flipH="1">
            <a:off x="3381700" y="1442675"/>
            <a:ext cx="2609100" cy="3360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3"/>
          </p:nvPr>
        </p:nvSpPr>
        <p:spPr>
          <a:xfrm flipH="1">
            <a:off x="6192000" y="1442675"/>
            <a:ext cx="2609100" cy="3360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ubTitle" idx="4"/>
          </p:nvPr>
        </p:nvSpPr>
        <p:spPr>
          <a:xfrm>
            <a:off x="571450" y="813600"/>
            <a:ext cx="7431600" cy="324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571450" y="432675"/>
            <a:ext cx="74316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131">
          <p15:clr>
            <a:srgbClr val="FA7B17"/>
          </p15:clr>
        </p15:guide>
        <p15:guide id="2" pos="3773">
          <p15:clr>
            <a:srgbClr val="FA7B17"/>
          </p15:clr>
        </p15:guide>
        <p15:guide id="3" pos="2004">
          <p15:clr>
            <a:srgbClr val="FA7B17"/>
          </p15:clr>
        </p15:guide>
        <p15:guide id="4" pos="3900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Title and 2 columns">
  <p:cSld name="TITLE_AND_BODY_2_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 flipH="1">
            <a:off x="571450" y="1442675"/>
            <a:ext cx="3926700" cy="3360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2"/>
          </p:nvPr>
        </p:nvSpPr>
        <p:spPr>
          <a:xfrm flipH="1">
            <a:off x="4869300" y="1442675"/>
            <a:ext cx="3926700" cy="3360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ubTitle" idx="3"/>
          </p:nvPr>
        </p:nvSpPr>
        <p:spPr>
          <a:xfrm>
            <a:off x="571450" y="813600"/>
            <a:ext cx="7431600" cy="324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571450" y="432675"/>
            <a:ext cx="74316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70">
          <p15:clr>
            <a:srgbClr val="FA7B17"/>
          </p15:clr>
        </p15:guide>
        <p15:guide id="2" pos="2834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- Quote (long)">
  <p:cSld name="TITLE_AND_BODY_2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1675600" y="1002600"/>
            <a:ext cx="5793000" cy="266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che Serif Light"/>
              <a:buNone/>
              <a:defRPr sz="3000" i="1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2"/>
          </p:nvPr>
        </p:nvSpPr>
        <p:spPr>
          <a:xfrm>
            <a:off x="1675600" y="3726225"/>
            <a:ext cx="5793000" cy="3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che Sans Light"/>
              <a:buNone/>
              <a:defRPr sz="14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054">
          <p15:clr>
            <a:srgbClr val="FA7B17"/>
          </p15:clr>
        </p15:guide>
        <p15:guide id="2" pos="4706">
          <p15:clr>
            <a:srgbClr val="FA7B17"/>
          </p15:clr>
        </p15:guide>
        <p15:guide id="3" orient="horz" pos="634">
          <p15:clr>
            <a:srgbClr val="FA7B17"/>
          </p15:clr>
        </p15:guide>
        <p15:guide id="4" orient="horz" pos="231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- Quote (short)">
  <p:cSld name="TITLE_AND_BODY_2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subTitle" idx="1"/>
          </p:nvPr>
        </p:nvSpPr>
        <p:spPr>
          <a:xfrm>
            <a:off x="3826350" y="1442675"/>
            <a:ext cx="4974600" cy="254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che Serif Light"/>
              <a:buNone/>
              <a:defRPr sz="2000" i="1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2"/>
          </p:nvPr>
        </p:nvSpPr>
        <p:spPr>
          <a:xfrm>
            <a:off x="3826350" y="3989525"/>
            <a:ext cx="4974600" cy="29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che Sans Light"/>
              <a:buNone/>
              <a:defRPr sz="14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>
            <a:spLocks noGrp="1"/>
          </p:cNvSpPr>
          <p:nvPr>
            <p:ph type="pic" idx="3"/>
          </p:nvPr>
        </p:nvSpPr>
        <p:spPr>
          <a:xfrm>
            <a:off x="0" y="1442675"/>
            <a:ext cx="3345600" cy="2844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71450" y="432675"/>
            <a:ext cx="771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71450" y="1442675"/>
            <a:ext cx="8229600" cy="31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rmAutofit/>
          </a:bodyPr>
          <a:lstStyle>
            <a:lvl1pPr marL="457200" lvl="0" indent="-31115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che Sans Light"/>
              <a:buChar char="■"/>
              <a:defRPr sz="1600"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marL="914400" lvl="1" indent="-3175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533D8"/>
              </a:buClr>
              <a:buSzPts val="1400"/>
              <a:buFont typeface="Roche Sans Light"/>
              <a:buChar char="○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he Sans Light"/>
              <a:buChar char="■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●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○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■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●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○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■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288632" y="264809"/>
            <a:ext cx="598050" cy="3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 descr=")]}'&#10;{&quot;branding&quot;:&quot;ROCHE_NEW&quot;,&quot;startSlideId&quot;:null,&quot;endSlideId&quot;:null,&quot;masterId&quot;:&quot;SLIDES_API916025361_8&quot;,&quot;theme&quot;:&quot;BLUE&quot;,&quot;defaultSlides&quot;:[&quot;SLIDES_API916025361_84&quot;,&quot;SLIDES_API916025361_164&quot;,&quot;SLIDES_API916025361_243&quot;,&quot;SLIDES_API916025361_320&quot;,&quot;SLIDES_API916025361_396&quot;,&quot;SLIDES_API916025361_474&quot;,&quot;SLIDES_API916025361_552&quot;,&quot;SLIDES_API916025361_629&quot;,&quot;SLIDES_API916025361_707&quot;,&quot;SLIDES_API916025361_782&quot;,&quot;SLIDES_API916025361_864&quot;,&quot;SLIDES_API916025361_944&quot;,&quot;SLIDES_API916025361_1023&quot;,&quot;SLIDES_API916025361_1104&quot;,&quot;SLIDES_API916025361_1184&quot;,&quot;SLIDES_API916025361_1263&quot;,&quot;SLIDES_API916025361_1346&quot;]}"/>
          <p:cNvSpPr/>
          <p:nvPr/>
        </p:nvSpPr>
        <p:spPr>
          <a:xfrm>
            <a:off x="3632725" y="41200"/>
            <a:ext cx="192300" cy="1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8252350" y="4763490"/>
            <a:ext cx="5487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latin typeface="Roche Sans Light"/>
                <a:ea typeface="Roche Sans Light"/>
                <a:cs typeface="Roche Sans Light"/>
                <a:sym typeface="Roche Sans Light"/>
              </a:rPr>
              <a:t>‹#›</a:t>
            </a:fld>
            <a:endParaRPr sz="900"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544">
          <p15:clr>
            <a:srgbClr val="EA4335"/>
          </p15:clr>
        </p15:guide>
        <p15:guide id="2" pos="360">
          <p15:clr>
            <a:srgbClr val="EA4335"/>
          </p15:clr>
        </p15:guide>
        <p15:guide id="3" orient="horz" pos="369">
          <p15:clr>
            <a:srgbClr val="EA4335"/>
          </p15:clr>
        </p15:guide>
        <p15:guide id="4" orient="horz" pos="909">
          <p15:clr>
            <a:srgbClr val="EA4335"/>
          </p15:clr>
        </p15:guide>
        <p15:guide id="5" pos="5221">
          <p15:clr>
            <a:srgbClr val="EA4335"/>
          </p15:clr>
        </p15:guide>
        <p15:guide id="6" orient="horz" pos="3076">
          <p15:clr>
            <a:srgbClr val="EA4335"/>
          </p15:clr>
        </p15:guide>
        <p15:guide id="7" orient="horz" pos="1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gordon.miller@roche.com" TargetMode="External"/><Relationship Id="rId5" Type="http://schemas.openxmlformats.org/officeDocument/2006/relationships/hyperlink" Target="mailto:stefan.bundfuss@external.roche.com" TargetMode="External"/><Relationship Id="rId4" Type="http://schemas.openxmlformats.org/officeDocument/2006/relationships/hyperlink" Target="mailto:edoardo.mancini@roche.com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subTitle" idx="2"/>
          </p:nvPr>
        </p:nvSpPr>
        <p:spPr>
          <a:xfrm>
            <a:off x="571450" y="4275850"/>
            <a:ext cx="8229600" cy="69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Gordon Miller and Edoardo Mancini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/>
              <a:t>PHUSE EU Connect 2026, Glasgow, UK</a:t>
            </a:r>
            <a:endParaRPr sz="1600" i="1"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3"/>
          </p:nvPr>
        </p:nvSpPr>
        <p:spPr>
          <a:xfrm>
            <a:off x="6016200" y="4846320"/>
            <a:ext cx="2784900" cy="1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17th November 2026 |  For public use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ctrTitle"/>
          </p:nvPr>
        </p:nvSpPr>
        <p:spPr>
          <a:xfrm>
            <a:off x="571450" y="660600"/>
            <a:ext cx="6976800" cy="1393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SM11 - Code that writes code that writes code?! Creating ADaMs in R with {admiralroche}</a:t>
            </a:r>
            <a:endParaRPr sz="2700"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1175" y="1956215"/>
            <a:ext cx="2036325" cy="210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0050" y="122325"/>
            <a:ext cx="1814625" cy="8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 descr="Table of contents title"/>
          <p:cNvSpPr txBox="1">
            <a:spLocks noGrp="1"/>
          </p:cNvSpPr>
          <p:nvPr>
            <p:ph type="title"/>
          </p:nvPr>
        </p:nvSpPr>
        <p:spPr>
          <a:xfrm>
            <a:off x="571450" y="2150850"/>
            <a:ext cx="4304400" cy="841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92" name="Google Shape;92;p17" descr="Table of contents box"/>
          <p:cNvSpPr txBox="1">
            <a:spLocks noGrp="1"/>
          </p:cNvSpPr>
          <p:nvPr>
            <p:ph type="body" idx="1"/>
          </p:nvPr>
        </p:nvSpPr>
        <p:spPr>
          <a:xfrm>
            <a:off x="4061500" y="586475"/>
            <a:ext cx="4739700" cy="393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Background:</a:t>
            </a:r>
            <a:r>
              <a:rPr lang="en"/>
              <a:t> Why {admiralroche}, and why ADaM Templates?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Stage 1: </a:t>
            </a:r>
            <a:r>
              <a:rPr lang="en"/>
              <a:t> Code - Initial intro to ADaM templates</a:t>
            </a:r>
            <a:endParaRPr/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Stage 2:</a:t>
            </a:r>
            <a:r>
              <a:rPr lang="en"/>
              <a:t> Code that writes code - “Abstracting away” our ADaM templates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Stage 3:</a:t>
            </a:r>
            <a:r>
              <a:rPr lang="en"/>
              <a:t> Code that writes code that writes code - Creating dynamic ADaM templates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Conclusion:</a:t>
            </a:r>
            <a:r>
              <a:rPr lang="en"/>
              <a:t> Reflections, Further work, Recommendations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7050" y="71500"/>
            <a:ext cx="3029375" cy="10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0" y="4804800"/>
            <a:ext cx="914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000" i="1">
                <a:latin typeface="Roche Sans Light"/>
                <a:ea typeface="Roche Sans Light"/>
                <a:cs typeface="Roche Sans Light"/>
                <a:sym typeface="Roche Sans Light"/>
              </a:rPr>
              <a:t>AI Declaration: AI tools (Google Gemini) were used in this presentation only to generate images.</a:t>
            </a:r>
            <a:endParaRPr sz="1000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 descr="Chapter Title"/>
          <p:cNvSpPr txBox="1">
            <a:spLocks noGrp="1"/>
          </p:cNvSpPr>
          <p:nvPr>
            <p:ph type="title"/>
          </p:nvPr>
        </p:nvSpPr>
        <p:spPr>
          <a:xfrm>
            <a:off x="628200" y="2207450"/>
            <a:ext cx="3943800" cy="841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8300" y="126225"/>
            <a:ext cx="362902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242225" y="234175"/>
            <a:ext cx="7420500" cy="488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open source {admiral} framework makes it very easy to get simple ADaM template programs…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2"/>
          </p:nvPr>
        </p:nvSpPr>
        <p:spPr>
          <a:xfrm>
            <a:off x="242225" y="1189100"/>
            <a:ext cx="5931600" cy="36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console: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library(admiral)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admiral::use_ad_template(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“adsl”, 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package = “admiral”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3741275" y="2324850"/>
            <a:ext cx="576000" cy="24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4A4A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050" y="1189063"/>
            <a:ext cx="3872326" cy="361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06825" y="227200"/>
            <a:ext cx="7696200" cy="50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…but are these templates really </a:t>
            </a:r>
            <a:r>
              <a:rPr lang="en" i="1" dirty="0"/>
              <a:t>that close</a:t>
            </a:r>
            <a:r>
              <a:rPr lang="en" dirty="0"/>
              <a:t> to Roche’s interpretation of the ADaM standards?</a:t>
            </a:r>
            <a:endParaRPr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2"/>
          </p:nvPr>
        </p:nvSpPr>
        <p:spPr>
          <a:xfrm>
            <a:off x="306825" y="1286575"/>
            <a:ext cx="8425200" cy="35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Short answer: </a:t>
            </a:r>
            <a:r>
              <a:rPr lang="en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Not really - you should probably make your own templates.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Long answer: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Any sponsor who implements ADaM (Roche included) makes choices in the areas where ADaM is flexible, e.g.:</a:t>
            </a:r>
            <a:endParaRPr/>
          </a:p>
          <a:p>
            <a:pPr marL="457200" lvl="0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Conventions to follow (imputation techniques, visit mapping, period assignment, etc.)</a:t>
            </a:r>
            <a:endParaRPr/>
          </a:p>
          <a:p>
            <a:pPr marL="457200" lvl="0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Sponsor-specific variables, parameters (custom age groups, population flags, etc.)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Additionally each sponsor’s templates should include:</a:t>
            </a:r>
            <a:endParaRPr/>
          </a:p>
          <a:p>
            <a:pPr marL="457200" lvl="0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Custom helper code catered to interact smoothly with their chosen SCE</a:t>
            </a:r>
            <a:endParaRPr/>
          </a:p>
          <a:p>
            <a:pPr marL="457200" lvl="0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Hand-picked code to interact with dataset specs (perhaps using other pharmaverse packages such as metatools, metacore xportr...)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So, we set up the {admiralroche} package to provide ADaM templates that are as close as possible to the datasets that we routinely create at Roche.</a:t>
            </a:r>
            <a:endParaRPr b="1">
              <a:solidFill>
                <a:schemeClr val="dk1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226100" y="227200"/>
            <a:ext cx="7286400" cy="50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 can provide our own custom Roche ADaM templates!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2"/>
          </p:nvPr>
        </p:nvSpPr>
        <p:spPr>
          <a:xfrm>
            <a:off x="226100" y="1442675"/>
            <a:ext cx="4178100" cy="3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In console: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library(admiral)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library(admiralroche)</a:t>
            </a:r>
            <a:endParaRPr>
              <a:solidFill>
                <a:srgbClr val="188038"/>
              </a:solidFill>
              <a:highlight>
                <a:srgbClr val="FFFF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admiral::use_ad_template(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“adsl”, 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>
                <a:solidFill>
                  <a:srgbClr val="188038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package = “admiralroche”</a:t>
            </a:r>
            <a:endParaRPr>
              <a:solidFill>
                <a:srgbClr val="188038"/>
              </a:solidFill>
              <a:highlight>
                <a:srgbClr val="FFFF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Note that {admiralroche} provides both the ADaM templates themselves and some R functions to derive  Roche-specific variables in ADaM datasets.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r="2325"/>
          <a:stretch/>
        </p:blipFill>
        <p:spPr>
          <a:xfrm>
            <a:off x="4726150" y="1242925"/>
            <a:ext cx="3727924" cy="37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/>
          <p:nvPr/>
        </p:nvSpPr>
        <p:spPr>
          <a:xfrm>
            <a:off x="3769150" y="2999525"/>
            <a:ext cx="576000" cy="24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42425" y="432675"/>
            <a:ext cx="77607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(portions of) an {admiralroche} template</a:t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426" y="1054775"/>
            <a:ext cx="4096647" cy="314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 rotWithShape="1">
          <a:blip r:embed="rId4">
            <a:alphaModFix/>
          </a:blip>
          <a:srcRect r="5696"/>
          <a:stretch/>
        </p:blipFill>
        <p:spPr>
          <a:xfrm>
            <a:off x="242426" y="4469422"/>
            <a:ext cx="4096649" cy="41347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258019" y="4054444"/>
            <a:ext cx="9510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che Sans Light"/>
                <a:ea typeface="Roche Sans Light"/>
                <a:cs typeface="Roche Sans Light"/>
                <a:sym typeface="Roche Sans Light"/>
              </a:rPr>
              <a:t>…</a:t>
            </a:r>
            <a:endParaRPr sz="1600"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258026" y="1054775"/>
            <a:ext cx="4508100" cy="8874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90287"/>
            </a:avLst>
          </a:prstGeom>
          <a:solidFill>
            <a:srgbClr val="4A86E8">
              <a:alpha val="327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258026" y="2432475"/>
            <a:ext cx="4508100" cy="6801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90287"/>
            </a:avLst>
          </a:prstGeom>
          <a:solidFill>
            <a:srgbClr val="004561">
              <a:alpha val="327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258026" y="3204000"/>
            <a:ext cx="4508100" cy="9981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90287"/>
            </a:avLst>
          </a:prstGeom>
          <a:solidFill>
            <a:srgbClr val="E84A4A">
              <a:alpha val="327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242426" y="4442650"/>
            <a:ext cx="4508100" cy="4404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90287"/>
            </a:avLst>
          </a:prstGeom>
          <a:solidFill>
            <a:srgbClr val="4A86E8">
              <a:alpha val="327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2"/>
          </p:nvPr>
        </p:nvSpPr>
        <p:spPr>
          <a:xfrm>
            <a:off x="4900026" y="1256400"/>
            <a:ext cx="3700500" cy="80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/>
              <a:t>Code to pull data cut date from Roche-specific metadata file</a:t>
            </a:r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2"/>
          </p:nvPr>
        </p:nvSpPr>
        <p:spPr>
          <a:xfrm>
            <a:off x="4900026" y="2656700"/>
            <a:ext cx="3700500" cy="3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/>
              <a:t>Study-specific code to derive treatment arms (expect user to edit this)</a:t>
            </a: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2"/>
          </p:nvPr>
        </p:nvSpPr>
        <p:spPr>
          <a:xfrm>
            <a:off x="4900026" y="3486650"/>
            <a:ext cx="3700500" cy="3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/>
              <a:t>Standard {admiral} function (possibly still using Roche-specific choice or arguments)</a:t>
            </a:r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body" idx="2"/>
          </p:nvPr>
        </p:nvSpPr>
        <p:spPr>
          <a:xfrm>
            <a:off x="4900026" y="4442638"/>
            <a:ext cx="3700500" cy="3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/>
              <a:t>Custom {admiralroche} functions to derive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AGEGR1</a:t>
            </a:r>
            <a:r>
              <a:rPr lang="en"/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AGEGR2</a:t>
            </a:r>
            <a:r>
              <a:rPr lang="en"/>
              <a:t> as per Roche standards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 descr="Chapter Title"/>
          <p:cNvSpPr txBox="1">
            <a:spLocks noGrp="1"/>
          </p:cNvSpPr>
          <p:nvPr>
            <p:ph type="title"/>
          </p:nvPr>
        </p:nvSpPr>
        <p:spPr>
          <a:xfrm>
            <a:off x="628200" y="2207450"/>
            <a:ext cx="3300000" cy="841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 Code</a:t>
            </a:r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 rotWithShape="1">
          <a:blip r:embed="rId3">
            <a:alphaModFix/>
          </a:blip>
          <a:srcRect r="50000" b="34163"/>
          <a:stretch/>
        </p:blipFill>
        <p:spPr>
          <a:xfrm>
            <a:off x="5280025" y="1824200"/>
            <a:ext cx="2914276" cy="209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7875" y="80425"/>
            <a:ext cx="362902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4" title="duplication_risks.png"/>
          <p:cNvPicPr preferRelativeResize="0"/>
          <p:nvPr/>
        </p:nvPicPr>
        <p:blipFill rotWithShape="1">
          <a:blip r:embed="rId3">
            <a:alphaModFix/>
          </a:blip>
          <a:srcRect b="50561"/>
          <a:stretch/>
        </p:blipFill>
        <p:spPr>
          <a:xfrm>
            <a:off x="3931650" y="3593351"/>
            <a:ext cx="3544800" cy="14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 title="user_updat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8400" y="1006434"/>
            <a:ext cx="5056375" cy="252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282600" y="432675"/>
            <a:ext cx="81555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{admiralroche}’s initial (static) ADaM templates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2"/>
          </p:nvPr>
        </p:nvSpPr>
        <p:spPr>
          <a:xfrm>
            <a:off x="282600" y="1068500"/>
            <a:ext cx="3544800" cy="30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Throughout its first releases, {admiralroche} provided static ADaM templates, accessible through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use_ad_template(package = “admiralroche”)</a:t>
            </a:r>
            <a:r>
              <a:rPr lang="en"/>
              <a:t> matching the specifications of the datasets in our Roche standards (ADSL, ADAE, ADVS, etc.)</a:t>
            </a:r>
            <a:endParaRPr b="1" u="sng">
              <a:latin typeface="Roche Sans"/>
              <a:ea typeface="Roche Sans"/>
              <a:cs typeface="Roche Sans"/>
              <a:sym typeface="Roche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400" b="1" u="sng">
              <a:latin typeface="Roche Sans"/>
              <a:ea typeface="Roche Sans"/>
              <a:cs typeface="Roche Sans"/>
              <a:sym typeface="Roche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Pros</a:t>
            </a:r>
            <a:endParaRPr b="1" u="sng">
              <a:latin typeface="Roche Sans"/>
              <a:ea typeface="Roche Sans"/>
              <a:cs typeface="Roche Sans"/>
              <a:sym typeface="Roche San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Simple to maintain for devs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Simple for users to access and use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Easiest way to initially set up {admiralroche}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Cons</a:t>
            </a:r>
            <a:endParaRPr b="1" u="sng">
              <a:latin typeface="Roche Sans"/>
              <a:ea typeface="Roche Sans"/>
              <a:cs typeface="Roche Sans"/>
              <a:sym typeface="Roche San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Difficult to cater for many different options, especially if complex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Duplication of code for sections common to all templates</a:t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 rot="9085455">
            <a:off x="6285506" y="3866589"/>
            <a:ext cx="711239" cy="2687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7018740" y="3427425"/>
            <a:ext cx="1541400" cy="661800"/>
          </a:xfrm>
          <a:prstGeom prst="rect">
            <a:avLst/>
          </a:prstGeom>
          <a:solidFill>
            <a:srgbClr val="C3D2E5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" sz="1000">
                <a:latin typeface="Roche Sans Light"/>
                <a:ea typeface="Roche Sans Light"/>
                <a:cs typeface="Roche Sans Light"/>
                <a:sym typeface="Roche Sans Light"/>
              </a:rPr>
              <a:t>An update to this function would require updating every template</a:t>
            </a:r>
            <a:endParaRPr sz="1000"/>
          </a:p>
        </p:txBody>
      </p:sp>
      <p:sp>
        <p:nvSpPr>
          <p:cNvPr id="156" name="Google Shape;156;p24"/>
          <p:cNvSpPr/>
          <p:nvPr/>
        </p:nvSpPr>
        <p:spPr>
          <a:xfrm rot="-8583878">
            <a:off x="7356829" y="1550948"/>
            <a:ext cx="577620" cy="24678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7950750" y="1805963"/>
            <a:ext cx="1201800" cy="985200"/>
          </a:xfrm>
          <a:prstGeom prst="rect">
            <a:avLst/>
          </a:prstGeom>
          <a:solidFill>
            <a:srgbClr val="C3D2E5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" sz="1000">
                <a:latin typeface="Roche Sans Light"/>
                <a:ea typeface="Roche Sans Light"/>
                <a:cs typeface="Roche Sans Light"/>
                <a:sym typeface="Roche Sans Light"/>
              </a:rPr>
              <a:t>Users required to update green portions if not using most common option</a:t>
            </a:r>
            <a:endParaRPr sz="1000"/>
          </a:p>
        </p:txBody>
      </p:sp>
      <p:sp>
        <p:nvSpPr>
          <p:cNvPr id="158" name="Google Shape;158;p24"/>
          <p:cNvSpPr/>
          <p:nvPr/>
        </p:nvSpPr>
        <p:spPr>
          <a:xfrm rot="10796952">
            <a:off x="7476450" y="2174824"/>
            <a:ext cx="338400" cy="247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282600" y="432675"/>
            <a:ext cx="81555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where are we at so far?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64" name="Google Shape;164;p25"/>
          <p:cNvGraphicFramePr/>
          <p:nvPr/>
        </p:nvGraphicFramePr>
        <p:xfrm>
          <a:off x="571450" y="1288488"/>
          <a:ext cx="8088800" cy="805435"/>
        </p:xfrm>
        <a:graphic>
          <a:graphicData uri="http://schemas.openxmlformats.org/drawingml/2006/table">
            <a:tbl>
              <a:tblPr>
                <a:noFill/>
                <a:tableStyleId>{1F2D676B-91A0-4259-BEE7-1C890A877DE3}</a:tableStyleId>
              </a:tblPr>
              <a:tblGrid>
                <a:gridCol w="189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Stage </a:t>
                      </a:r>
                      <a:endParaRPr b="1"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>
                    <a:solidFill>
                      <a:srgbClr val="4A86E8">
                        <a:alpha val="327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How is a typical template (e.g. ADSL) generated and served to the user?</a:t>
                      </a:r>
                      <a:endParaRPr b="1"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>
                    <a:solidFill>
                      <a:srgbClr val="4A86E8">
                        <a:alpha val="327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Stage 1: </a:t>
                      </a:r>
                      <a:r>
                        <a:rPr lang="en" i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Code</a:t>
                      </a:r>
                      <a:endParaRPr i="1"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Static 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ad_adsl.R</a:t>
                      </a: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 template program is directly provided by {admiralroche}</a:t>
                      </a:r>
                      <a:endParaRPr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65" name="Google Shape;165;p25"/>
          <p:cNvPicPr preferRelativeResize="0"/>
          <p:nvPr/>
        </p:nvPicPr>
        <p:blipFill rotWithShape="1">
          <a:blip r:embed="rId3">
            <a:alphaModFix/>
          </a:blip>
          <a:srcRect r="50000" b="34163"/>
          <a:stretch/>
        </p:blipFill>
        <p:spPr>
          <a:xfrm>
            <a:off x="3114525" y="2358501"/>
            <a:ext cx="2914949" cy="20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 descr="Chapter Title"/>
          <p:cNvSpPr txBox="1">
            <a:spLocks noGrp="1"/>
          </p:cNvSpPr>
          <p:nvPr>
            <p:ph type="title"/>
          </p:nvPr>
        </p:nvSpPr>
        <p:spPr>
          <a:xfrm>
            <a:off x="628200" y="2207450"/>
            <a:ext cx="3300000" cy="841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Code that writes code?!</a:t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 rotWithShape="1">
          <a:blip r:embed="rId3">
            <a:alphaModFix/>
          </a:blip>
          <a:srcRect l="50293" b="49930"/>
          <a:stretch/>
        </p:blipFill>
        <p:spPr>
          <a:xfrm>
            <a:off x="4964825" y="1862000"/>
            <a:ext cx="3546826" cy="195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4075" y="106600"/>
            <a:ext cx="362902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title"/>
          </p:nvPr>
        </p:nvSpPr>
        <p:spPr>
          <a:xfrm>
            <a:off x="300961" y="432675"/>
            <a:ext cx="81231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Abstracting away common chunks of the templates (1/3)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body" idx="2"/>
          </p:nvPr>
        </p:nvSpPr>
        <p:spPr>
          <a:xfrm>
            <a:off x="282600" y="1068500"/>
            <a:ext cx="8518500" cy="14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b="1">
                <a:latin typeface="Roche Sans"/>
                <a:ea typeface="Roche Sans"/>
                <a:cs typeface="Roche Sans"/>
                <a:sym typeface="Roche Sans"/>
              </a:rPr>
              <a:t>😤</a:t>
            </a: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Issue:</a:t>
            </a:r>
            <a:r>
              <a:rPr lang="en"/>
              <a:t> After a while, {admiralroche} contained &gt;20 ADaM templates, with many common or similar sections. Updating one of those meant potentially having to identically edit 20 files.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300"/>
              </a:spcAft>
              <a:buNone/>
            </a:pP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3037" y="1603875"/>
            <a:ext cx="2205352" cy="339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3387" y="1599076"/>
            <a:ext cx="2246400" cy="339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 txBox="1"/>
          <p:nvPr/>
        </p:nvSpPr>
        <p:spPr>
          <a:xfrm>
            <a:off x="218025" y="1729150"/>
            <a:ext cx="3367200" cy="29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Eg: ADCM and ADMH templates contain almost identical sequence of 5 {admiral} code blocks to set up analysis dates, with some key differences. </a:t>
            </a: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">
              <a:latin typeface="Roche Sans Light"/>
              <a:ea typeface="Roche Sans Light"/>
              <a:cs typeface="Roche Sans Light"/>
              <a:sym typeface="Roche Sans Light"/>
            </a:endParaRP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For just the </a:t>
            </a:r>
            <a:r>
              <a:rPr lang="en">
                <a:solidFill>
                  <a:srgbClr val="4A86E8"/>
                </a:solidFill>
                <a:latin typeface="Roche Sans Light"/>
                <a:ea typeface="Roche Sans Light"/>
                <a:cs typeface="Roche Sans Light"/>
                <a:sym typeface="Roche Sans Light"/>
              </a:rPr>
              <a:t>blue AENDTM block</a:t>
            </a: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, we see:</a:t>
            </a:r>
            <a:endParaRPr b="1" u="sng">
              <a:latin typeface="Roche Sans"/>
              <a:ea typeface="Roche Sans"/>
              <a:cs typeface="Roche Sans"/>
              <a:sym typeface="Roche Sans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che Sans Light"/>
              <a:buChar char="■"/>
            </a:pP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Different source variable names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CMENDTC</a:t>
            </a: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 vs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MHENDTC</a:t>
            </a: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)</a:t>
            </a: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che Sans Light"/>
              <a:buChar char="■"/>
            </a:pP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Different time imputation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“first”</a:t>
            </a: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 vs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“last”</a:t>
            </a: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)</a:t>
            </a: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endParaRPr b="1">
              <a:solidFill>
                <a:schemeClr val="dk1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3763074" y="3290675"/>
            <a:ext cx="2205300" cy="984900"/>
          </a:xfrm>
          <a:prstGeom prst="rect">
            <a:avLst/>
          </a:prstGeom>
          <a:solidFill>
            <a:srgbClr val="4A86E8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6223937" y="3270425"/>
            <a:ext cx="2205300" cy="1025400"/>
          </a:xfrm>
          <a:prstGeom prst="rect">
            <a:avLst/>
          </a:prstGeom>
          <a:solidFill>
            <a:srgbClr val="4A86E8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3929400" y="3488225"/>
            <a:ext cx="608400" cy="102300"/>
          </a:xfrm>
          <a:prstGeom prst="rect">
            <a:avLst/>
          </a:prstGeom>
          <a:solidFill>
            <a:srgbClr val="F6BDFF">
              <a:alpha val="40510"/>
            </a:srgbClr>
          </a:solidFill>
          <a:ln w="9525" cap="flat" cmpd="sng">
            <a:solidFill>
              <a:srgbClr val="F6B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6383050" y="3488225"/>
            <a:ext cx="608400" cy="102300"/>
          </a:xfrm>
          <a:prstGeom prst="rect">
            <a:avLst/>
          </a:prstGeom>
          <a:solidFill>
            <a:srgbClr val="F6BDFF">
              <a:alpha val="40510"/>
            </a:srgbClr>
          </a:solidFill>
          <a:ln w="9525" cap="flat" cmpd="sng">
            <a:solidFill>
              <a:srgbClr val="F6B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3933175" y="3867725"/>
            <a:ext cx="1000500" cy="102300"/>
          </a:xfrm>
          <a:prstGeom prst="rect">
            <a:avLst/>
          </a:prstGeom>
          <a:solidFill>
            <a:srgbClr val="AAF874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6383050" y="3923225"/>
            <a:ext cx="1061700" cy="102300"/>
          </a:xfrm>
          <a:prstGeom prst="rect">
            <a:avLst/>
          </a:prstGeom>
          <a:solidFill>
            <a:srgbClr val="AAF874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339175" y="4077650"/>
            <a:ext cx="3367200" cy="920400"/>
          </a:xfrm>
          <a:prstGeom prst="cloudCallout">
            <a:avLst>
              <a:gd name="adj1" fmla="val -54393"/>
              <a:gd name="adj2" fmla="val 57385"/>
            </a:avLst>
          </a:prstGeom>
          <a:solidFill>
            <a:srgbClr val="4A86E8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che Sans"/>
                <a:ea typeface="Roche Sans"/>
                <a:cs typeface="Roche Sans"/>
                <a:sym typeface="Roche Sans"/>
              </a:rPr>
              <a:t>🤔</a:t>
            </a:r>
            <a:r>
              <a:rPr lang="en" b="1">
                <a:solidFill>
                  <a:srgbClr val="0B41CD"/>
                </a:solidFill>
                <a:latin typeface="Roche Sans"/>
                <a:ea typeface="Roche Sans"/>
                <a:cs typeface="Roche Sans"/>
                <a:sym typeface="Roche Sans"/>
              </a:rPr>
              <a:t>Can we do better than just duplicating this code?</a:t>
            </a:r>
            <a:r>
              <a:rPr lang="en" sz="1100"/>
              <a:t>  </a:t>
            </a:r>
            <a:r>
              <a:rPr lang="en" b="1">
                <a:latin typeface="Roche Sans"/>
                <a:ea typeface="Roche Sans"/>
                <a:cs typeface="Roche Sans"/>
                <a:sym typeface="Roche Sans"/>
              </a:rPr>
              <a:t>🤔</a:t>
            </a: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286575" y="432675"/>
            <a:ext cx="81435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Abstracting away common chunks of the templates (2/3)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8"/>
          <p:cNvSpPr txBox="1">
            <a:spLocks noGrp="1"/>
          </p:cNvSpPr>
          <p:nvPr>
            <p:ph type="body" idx="2"/>
          </p:nvPr>
        </p:nvSpPr>
        <p:spPr>
          <a:xfrm>
            <a:off x="282600" y="1068500"/>
            <a:ext cx="6718200" cy="116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b="1">
                <a:latin typeface="Roche Sans"/>
                <a:ea typeface="Roche Sans"/>
                <a:cs typeface="Roche Sans"/>
                <a:sym typeface="Roche Sans"/>
              </a:rPr>
              <a:t>💡</a:t>
            </a: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Solution:</a:t>
            </a:r>
            <a:r>
              <a:rPr lang="en"/>
              <a:t> What if we abstracted away the common sections, to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dynamically build and maintain ADaM templates</a:t>
            </a:r>
            <a:r>
              <a:rPr lang="en"/>
              <a:t> using a combination of common and dataset-specific chunks? 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300"/>
              </a:spcAft>
              <a:buNone/>
            </a:pPr>
            <a:endParaRPr/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6125" y="963113"/>
            <a:ext cx="1188524" cy="137665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/>
          <p:nvPr/>
        </p:nvSpPr>
        <p:spPr>
          <a:xfrm>
            <a:off x="282600" y="1606900"/>
            <a:ext cx="58542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….enter the {scriptr} package! </a:t>
            </a:r>
            <a:r>
              <a:rPr lang="en" i="1">
                <a:latin typeface="Roche Sans Light"/>
                <a:ea typeface="Roche Sans Light"/>
                <a:cs typeface="Roche Sans Light"/>
                <a:sym typeface="Roche Sans Light"/>
              </a:rPr>
              <a:t>{scriptr} is an internal Roche package built to store code in a central place and use it to generate scripts.</a:t>
            </a:r>
            <a:endParaRPr i="1"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950" y="3350952"/>
            <a:ext cx="4105925" cy="161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/>
          <p:nvPr/>
        </p:nvSpPr>
        <p:spPr>
          <a:xfrm>
            <a:off x="294650" y="2625975"/>
            <a:ext cx="41304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We can abstract away each block (</a:t>
            </a:r>
            <a:r>
              <a:rPr lang="en">
                <a:solidFill>
                  <a:srgbClr val="4A86E8"/>
                </a:solidFill>
                <a:latin typeface="Roche Sans Light"/>
                <a:ea typeface="Roche Sans Light"/>
                <a:cs typeface="Roche Sans Light"/>
                <a:sym typeface="Roche Sans Light"/>
              </a:rPr>
              <a:t>e.g. the blue AENDTM block from before</a:t>
            </a: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) using {scriptr}...</a:t>
            </a:r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4572000" y="2488625"/>
            <a:ext cx="4464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…and then use the abstracted chunks to construct the ACDM/ADMH templates. The call below constructs the 5 ADMH blocks from the previous slide.</a:t>
            </a:r>
            <a:endParaRPr/>
          </a:p>
        </p:txBody>
      </p:sp>
      <p:sp>
        <p:nvSpPr>
          <p:cNvPr id="200" name="Google Shape;200;p28"/>
          <p:cNvSpPr/>
          <p:nvPr/>
        </p:nvSpPr>
        <p:spPr>
          <a:xfrm>
            <a:off x="306950" y="3350949"/>
            <a:ext cx="4105800" cy="1616400"/>
          </a:xfrm>
          <a:prstGeom prst="rect">
            <a:avLst/>
          </a:prstGeom>
          <a:solidFill>
            <a:srgbClr val="4A86E8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pic>
        <p:nvPicPr>
          <p:cNvPr id="201" name="Google Shape;201;p28"/>
          <p:cNvPicPr preferRelativeResize="0"/>
          <p:nvPr/>
        </p:nvPicPr>
        <p:blipFill rotWithShape="1">
          <a:blip r:embed="rId5">
            <a:alphaModFix/>
          </a:blip>
          <a:srcRect t="10698" r="1156"/>
          <a:stretch/>
        </p:blipFill>
        <p:spPr>
          <a:xfrm>
            <a:off x="4906150" y="3293938"/>
            <a:ext cx="3208775" cy="171246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/>
          <p:nvPr/>
        </p:nvSpPr>
        <p:spPr>
          <a:xfrm>
            <a:off x="5095050" y="3795050"/>
            <a:ext cx="3020100" cy="161400"/>
          </a:xfrm>
          <a:prstGeom prst="rect">
            <a:avLst/>
          </a:prstGeom>
          <a:solidFill>
            <a:srgbClr val="4A86E8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203" name="Google Shape;203;p28"/>
          <p:cNvSpPr/>
          <p:nvPr/>
        </p:nvSpPr>
        <p:spPr>
          <a:xfrm rot="-862852">
            <a:off x="4255052" y="3851647"/>
            <a:ext cx="810496" cy="19281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492550" y="4336050"/>
            <a:ext cx="1865100" cy="161400"/>
          </a:xfrm>
          <a:prstGeom prst="rect">
            <a:avLst/>
          </a:prstGeom>
          <a:solidFill>
            <a:srgbClr val="AAF874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194798" y="2317400"/>
            <a:ext cx="25194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Example:</a:t>
            </a:r>
            <a:endParaRPr b="1" u="sng"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521950" y="3831291"/>
            <a:ext cx="2364000" cy="161400"/>
          </a:xfrm>
          <a:prstGeom prst="rect">
            <a:avLst/>
          </a:prstGeom>
          <a:solidFill>
            <a:srgbClr val="F6BDFF">
              <a:alpha val="40510"/>
            </a:srgbClr>
          </a:solidFill>
          <a:ln w="9525" cap="flat" cmpd="sng">
            <a:solidFill>
              <a:srgbClr val="F6B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6061900" y="3819350"/>
            <a:ext cx="631800" cy="88500"/>
          </a:xfrm>
          <a:prstGeom prst="rect">
            <a:avLst/>
          </a:prstGeom>
          <a:solidFill>
            <a:srgbClr val="F6BDFF">
              <a:alpha val="40510"/>
            </a:srgbClr>
          </a:solidFill>
          <a:ln w="9525" cap="flat" cmpd="sng">
            <a:solidFill>
              <a:srgbClr val="F6B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6805200" y="3795050"/>
            <a:ext cx="1188600" cy="112800"/>
          </a:xfrm>
          <a:prstGeom prst="rect">
            <a:avLst/>
          </a:prstGeom>
          <a:solidFill>
            <a:srgbClr val="AAF874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282600" y="432675"/>
            <a:ext cx="81555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Abstracting away common chunks of the templates (3/3)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body" idx="2"/>
          </p:nvPr>
        </p:nvSpPr>
        <p:spPr>
          <a:xfrm>
            <a:off x="282600" y="1068500"/>
            <a:ext cx="8445900" cy="22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In summary:</a:t>
            </a:r>
            <a:endParaRPr b="1" u="sng">
              <a:latin typeface="Roche Sans"/>
              <a:ea typeface="Roche Sans"/>
              <a:cs typeface="Roche Sans"/>
              <a:sym typeface="Roche San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{admiralroche} was refactored internally to create a “library” of generic code chunks (powered by {scriptr}) that were used to construct our ~20 ADaM template scripts </a:t>
            </a:r>
            <a:r>
              <a:rPr lang="en" i="1"/>
              <a:t>(code that writes code!)</a:t>
            </a:r>
            <a:endParaRPr i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Now, any update to an {admiral}/{admiralroche} function requires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updating each chunk rather than each template</a:t>
            </a:r>
            <a:r>
              <a:rPr lang="en"/>
              <a:t>. The chunks also ensure consistency across datasets (same derivation in two datasets → same chunk used → identical code generated)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Importantly, this had no impact to our users, who could still access the templates using: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30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use_ad_template(“&lt;adam_name&gt;”, package = “admiralroche”)</a:t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>
            <a:off x="806350" y="3086625"/>
            <a:ext cx="7816200" cy="1848900"/>
          </a:xfrm>
          <a:prstGeom prst="cloudCallout">
            <a:avLst>
              <a:gd name="adj1" fmla="val -54393"/>
              <a:gd name="adj2" fmla="val 57385"/>
            </a:avLst>
          </a:prstGeom>
          <a:solidFill>
            <a:srgbClr val="4A86E8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🤔But why stop here?🤔</a:t>
            </a:r>
            <a:endParaRPr b="1">
              <a:solidFill>
                <a:schemeClr val="dk1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Now that we had this library of code chunks,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why not just ask our users which chunks they want</a:t>
            </a: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 (i.e. which standards they are following) to build them a template which is closer to their end goal?</a:t>
            </a: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>
            <a:spLocks noGrp="1"/>
          </p:cNvSpPr>
          <p:nvPr>
            <p:ph type="title"/>
          </p:nvPr>
        </p:nvSpPr>
        <p:spPr>
          <a:xfrm>
            <a:off x="282600" y="432675"/>
            <a:ext cx="81555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where are we at so far?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21" name="Google Shape;221;p30"/>
          <p:cNvGraphicFramePr/>
          <p:nvPr/>
        </p:nvGraphicFramePr>
        <p:xfrm>
          <a:off x="477700" y="1105687"/>
          <a:ext cx="8359700" cy="1415005"/>
        </p:xfrm>
        <a:graphic>
          <a:graphicData uri="http://schemas.openxmlformats.org/drawingml/2006/table">
            <a:tbl>
              <a:tblPr>
                <a:noFill/>
                <a:tableStyleId>{1F2D676B-91A0-4259-BEE7-1C890A877DE3}</a:tableStyleId>
              </a:tblPr>
              <a:tblGrid>
                <a:gridCol w="195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Stage </a:t>
                      </a:r>
                      <a:endParaRPr b="1"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>
                    <a:solidFill>
                      <a:srgbClr val="4A86E8">
                        <a:alpha val="327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How is a typical template (e.g. ADSL) generated and served to the user?</a:t>
                      </a:r>
                      <a:endParaRPr b="1"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>
                    <a:solidFill>
                      <a:srgbClr val="4A86E8">
                        <a:alpha val="327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Stage 1: </a:t>
                      </a:r>
                      <a:r>
                        <a:rPr lang="en" i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Code</a:t>
                      </a:r>
                      <a:endParaRPr i="1"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ad_adsl.R</a:t>
                      </a: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 template programs provided by {admiralroche}</a:t>
                      </a:r>
                      <a:endParaRPr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Stage 2: </a:t>
                      </a:r>
                      <a:r>
                        <a:rPr lang="en" i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Code that writes code</a:t>
                      </a:r>
                      <a:endParaRPr i="1"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Internal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create_ad_adsl.R</a:t>
                      </a: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 script combines generic chunks to construct 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ad_adsl.R</a:t>
                      </a: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 template - still provided to users through {admiralroche}</a:t>
                      </a:r>
                      <a:endParaRPr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22" name="Google Shape;222;p30"/>
          <p:cNvPicPr preferRelativeResize="0"/>
          <p:nvPr/>
        </p:nvPicPr>
        <p:blipFill rotWithShape="1">
          <a:blip r:embed="rId3">
            <a:alphaModFix/>
          </a:blip>
          <a:srcRect l="50293" b="49930"/>
          <a:stretch/>
        </p:blipFill>
        <p:spPr>
          <a:xfrm>
            <a:off x="2667900" y="2740475"/>
            <a:ext cx="3829524" cy="210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 descr="Chapter Title"/>
          <p:cNvSpPr txBox="1">
            <a:spLocks noGrp="1"/>
          </p:cNvSpPr>
          <p:nvPr>
            <p:ph type="title"/>
          </p:nvPr>
        </p:nvSpPr>
        <p:spPr>
          <a:xfrm>
            <a:off x="628200" y="2207450"/>
            <a:ext cx="3300000" cy="841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Code that writes code that writes code!</a:t>
            </a:r>
            <a:endParaRPr/>
          </a:p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3">
            <a:alphaModFix/>
          </a:blip>
          <a:srcRect l="50157" t="52050"/>
          <a:stretch/>
        </p:blipFill>
        <p:spPr>
          <a:xfrm>
            <a:off x="4572000" y="1815425"/>
            <a:ext cx="3485276" cy="183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7150" y="93475"/>
            <a:ext cx="362902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title"/>
          </p:nvPr>
        </p:nvSpPr>
        <p:spPr>
          <a:xfrm>
            <a:off x="282600" y="432675"/>
            <a:ext cx="81555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“dynamic” ADaM templates (1/2)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2"/>
          <p:cNvSpPr txBox="1">
            <a:spLocks noGrp="1"/>
          </p:cNvSpPr>
          <p:nvPr>
            <p:ph type="body" idx="2"/>
          </p:nvPr>
        </p:nvSpPr>
        <p:spPr>
          <a:xfrm>
            <a:off x="282600" y="1068500"/>
            <a:ext cx="3980700" cy="400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🆕In the latest {admiralroche} releases, we: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"/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Expanded our “library of chunks” </a:t>
            </a:r>
            <a:r>
              <a:rPr lang="en"/>
              <a:t>to create options and/or variants for all possible choices mentioned in our global standards - not just the most popular ones!</a:t>
            </a:r>
            <a:endParaRPr/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600"/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Created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dynamic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use_&lt;adam&gt;_template()</a:t>
            </a:r>
            <a:r>
              <a:rPr lang="en"/>
              <a:t> functions which identify user preferences through the CLI and then pick the right chunks to use to construct their ADaM templates </a:t>
            </a:r>
            <a:r>
              <a:rPr lang="en" i="1"/>
              <a:t>(code that writes code that writes code!)</a:t>
            </a:r>
            <a:endParaRPr i="1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Users can also feed in their specifications so that the function may attempt to identify a choice by default (by scanning the derivation text and looking for keywords).</a:t>
            </a:r>
            <a:endParaRPr/>
          </a:p>
        </p:txBody>
      </p:sp>
      <p:pic>
        <p:nvPicPr>
          <p:cNvPr id="236" name="Google Shape;236;p32"/>
          <p:cNvPicPr preferRelativeResize="0"/>
          <p:nvPr/>
        </p:nvPicPr>
        <p:blipFill rotWithShape="1">
          <a:blip r:embed="rId3">
            <a:alphaModFix/>
          </a:blip>
          <a:srcRect r="3800" b="59013"/>
          <a:stretch/>
        </p:blipFill>
        <p:spPr>
          <a:xfrm>
            <a:off x="4644300" y="966675"/>
            <a:ext cx="4065150" cy="17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300" y="2608075"/>
            <a:ext cx="4065149" cy="16982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2"/>
          <p:cNvSpPr txBox="1"/>
          <p:nvPr/>
        </p:nvSpPr>
        <p:spPr>
          <a:xfrm>
            <a:off x="4605004" y="2475671"/>
            <a:ext cx="969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che Sans Light"/>
                <a:ea typeface="Roche Sans Light"/>
                <a:cs typeface="Roche Sans Light"/>
                <a:sym typeface="Roche Sans Light"/>
              </a:rPr>
              <a:t>&lt;...&gt;</a:t>
            </a:r>
            <a:endParaRPr sz="1600"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4300" y="2784600"/>
            <a:ext cx="4065149" cy="22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2"/>
          <p:cNvSpPr/>
          <p:nvPr/>
        </p:nvSpPr>
        <p:spPr>
          <a:xfrm rot="-10049095">
            <a:off x="6816181" y="2400496"/>
            <a:ext cx="951099" cy="18755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78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250" tIns="75250" rIns="75250" bIns="7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52"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7860574" y="2429525"/>
            <a:ext cx="1118400" cy="278700"/>
          </a:xfrm>
          <a:prstGeom prst="rect">
            <a:avLst/>
          </a:prstGeom>
          <a:solidFill>
            <a:srgbClr val="C3D2E5"/>
          </a:solidFill>
          <a:ln>
            <a:noFill/>
          </a:ln>
        </p:spPr>
        <p:txBody>
          <a:bodyPr spcFirstLastPara="1" wrap="square" lIns="75250" tIns="75250" rIns="75250" bIns="75250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329"/>
              </a:spcBef>
              <a:spcAft>
                <a:spcPts val="247"/>
              </a:spcAft>
              <a:buNone/>
            </a:pPr>
            <a:r>
              <a:rPr lang="en" sz="823">
                <a:latin typeface="Roche Sans Light"/>
                <a:ea typeface="Roche Sans Light"/>
                <a:cs typeface="Roche Sans Light"/>
                <a:sym typeface="Roche Sans Light"/>
              </a:rPr>
              <a:t>Defaults from specs</a:t>
            </a:r>
            <a:endParaRPr sz="823"/>
          </a:p>
        </p:txBody>
      </p:sp>
      <p:sp>
        <p:nvSpPr>
          <p:cNvPr id="242" name="Google Shape;242;p32"/>
          <p:cNvSpPr txBox="1"/>
          <p:nvPr/>
        </p:nvSpPr>
        <p:spPr>
          <a:xfrm>
            <a:off x="7471800" y="4139025"/>
            <a:ext cx="1329300" cy="411600"/>
          </a:xfrm>
          <a:prstGeom prst="rect">
            <a:avLst/>
          </a:prstGeom>
          <a:solidFill>
            <a:srgbClr val="C3D2E5"/>
          </a:solidFill>
          <a:ln>
            <a:noFill/>
          </a:ln>
        </p:spPr>
        <p:txBody>
          <a:bodyPr spcFirstLastPara="1" wrap="square" lIns="75250" tIns="75250" rIns="75250" bIns="75250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329"/>
              </a:spcBef>
              <a:spcAft>
                <a:spcPts val="247"/>
              </a:spcAft>
              <a:buNone/>
            </a:pPr>
            <a:r>
              <a:rPr lang="en" sz="823">
                <a:latin typeface="Roche Sans Light"/>
                <a:ea typeface="Roche Sans Light"/>
                <a:cs typeface="Roche Sans Light"/>
                <a:sym typeface="Roche Sans Light"/>
              </a:rPr>
              <a:t>Notice ss, ds, death not required</a:t>
            </a:r>
            <a:endParaRPr sz="823"/>
          </a:p>
        </p:txBody>
      </p:sp>
      <p:sp>
        <p:nvSpPr>
          <p:cNvPr id="243" name="Google Shape;243;p32"/>
          <p:cNvSpPr/>
          <p:nvPr/>
        </p:nvSpPr>
        <p:spPr>
          <a:xfrm rot="10541525">
            <a:off x="5867425" y="4232331"/>
            <a:ext cx="1553589" cy="2250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78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250" tIns="75250" rIns="75250" bIns="7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52"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375" y="1944499"/>
            <a:ext cx="4294274" cy="185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944499"/>
            <a:ext cx="4108325" cy="284372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 txBox="1">
            <a:spLocks noGrp="1"/>
          </p:cNvSpPr>
          <p:nvPr>
            <p:ph type="body" idx="2"/>
          </p:nvPr>
        </p:nvSpPr>
        <p:spPr>
          <a:xfrm>
            <a:off x="282600" y="1466899"/>
            <a:ext cx="3980700" cy="4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300"/>
              </a:spcAft>
              <a:buNone/>
            </a:pPr>
            <a:r>
              <a:rPr lang="en"/>
              <a:t>Internally, the correct chunks are identified and set up for the last alive date derivation (excluding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ds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ss</a:t>
            </a:r>
            <a:r>
              <a:rPr lang="en"/>
              <a:t>)...</a:t>
            </a:r>
            <a:endParaRPr/>
          </a:p>
        </p:txBody>
      </p:sp>
      <p:sp>
        <p:nvSpPr>
          <p:cNvPr id="251" name="Google Shape;251;p33"/>
          <p:cNvSpPr txBox="1">
            <a:spLocks noGrp="1"/>
          </p:cNvSpPr>
          <p:nvPr>
            <p:ph type="body" idx="2"/>
          </p:nvPr>
        </p:nvSpPr>
        <p:spPr>
          <a:xfrm>
            <a:off x="4732375" y="1466899"/>
            <a:ext cx="3980700" cy="4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300"/>
              </a:spcAft>
              <a:buNone/>
            </a:pPr>
            <a:r>
              <a:rPr lang="en"/>
              <a:t>…to end up with the correct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LSTALVDT</a:t>
            </a:r>
            <a:r>
              <a:rPr lang="en"/>
              <a:t> block in the ADSL template!</a:t>
            </a:r>
            <a:endParaRPr/>
          </a:p>
        </p:txBody>
      </p:sp>
      <p:sp>
        <p:nvSpPr>
          <p:cNvPr id="252" name="Google Shape;252;p33"/>
          <p:cNvSpPr/>
          <p:nvPr/>
        </p:nvSpPr>
        <p:spPr>
          <a:xfrm rot="-3572">
            <a:off x="4102304" y="2805299"/>
            <a:ext cx="577500" cy="24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571451" y="3251799"/>
            <a:ext cx="3841800" cy="342900"/>
          </a:xfrm>
          <a:prstGeom prst="rect">
            <a:avLst/>
          </a:prstGeom>
          <a:solidFill>
            <a:srgbClr val="4A86E8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4906475" y="2354499"/>
            <a:ext cx="4056300" cy="126000"/>
          </a:xfrm>
          <a:prstGeom prst="rect">
            <a:avLst/>
          </a:prstGeom>
          <a:solidFill>
            <a:srgbClr val="4A86E8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4906475" y="2480499"/>
            <a:ext cx="1084800" cy="572100"/>
          </a:xfrm>
          <a:prstGeom prst="rect">
            <a:avLst/>
          </a:prstGeom>
          <a:solidFill>
            <a:srgbClr val="4A86E8">
              <a:alpha val="32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256" name="Google Shape;256;p33"/>
          <p:cNvSpPr txBox="1">
            <a:spLocks noGrp="1"/>
          </p:cNvSpPr>
          <p:nvPr>
            <p:ph type="title"/>
          </p:nvPr>
        </p:nvSpPr>
        <p:spPr>
          <a:xfrm>
            <a:off x="304800" y="432675"/>
            <a:ext cx="81333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“dynamic” ADaM templates (2/2)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endParaRPr/>
          </a:p>
        </p:txBody>
      </p:sp>
      <p:sp>
        <p:nvSpPr>
          <p:cNvPr id="257" name="Google Shape;257;p33"/>
          <p:cNvSpPr txBox="1"/>
          <p:nvPr/>
        </p:nvSpPr>
        <p:spPr>
          <a:xfrm>
            <a:off x="209951" y="1017375"/>
            <a:ext cx="510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" b="1">
                <a:latin typeface="Roche Sans"/>
                <a:ea typeface="Roche Sans"/>
                <a:cs typeface="Roche Sans"/>
                <a:sym typeface="Roche Sans"/>
              </a:rPr>
              <a:t>➡️</a:t>
            </a: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Let’s follow through the selection for </a:t>
            </a:r>
            <a:r>
              <a:rPr lang="en" b="1" u="sng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LSTALVDT</a:t>
            </a: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>
            <a:spLocks noGrp="1"/>
          </p:cNvSpPr>
          <p:nvPr>
            <p:ph type="title"/>
          </p:nvPr>
        </p:nvSpPr>
        <p:spPr>
          <a:xfrm>
            <a:off x="282600" y="432675"/>
            <a:ext cx="81555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where did we get to?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63" name="Google Shape;263;p34"/>
          <p:cNvGraphicFramePr/>
          <p:nvPr/>
        </p:nvGraphicFramePr>
        <p:xfrm>
          <a:off x="824525" y="1055663"/>
          <a:ext cx="7561350" cy="2664655"/>
        </p:xfrm>
        <a:graphic>
          <a:graphicData uri="http://schemas.openxmlformats.org/drawingml/2006/table">
            <a:tbl>
              <a:tblPr>
                <a:noFill/>
                <a:tableStyleId>{1F2D676B-91A0-4259-BEE7-1C890A877DE3}</a:tableStyleId>
              </a:tblPr>
              <a:tblGrid>
                <a:gridCol w="177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Stage </a:t>
                      </a:r>
                      <a:endParaRPr b="1"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>
                    <a:solidFill>
                      <a:srgbClr val="4A86E8">
                        <a:alpha val="327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How are templates generated and served to the user?</a:t>
                      </a:r>
                      <a:endParaRPr b="1"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>
                    <a:solidFill>
                      <a:srgbClr val="4A86E8">
                        <a:alpha val="327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Stage 1: </a:t>
                      </a:r>
                      <a:r>
                        <a:rPr lang="en" i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Code</a:t>
                      </a:r>
                      <a:endParaRPr i="1"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ad_adsl.R</a:t>
                      </a: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 template programs provided by {admiralroche}</a:t>
                      </a:r>
                      <a:endParaRPr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Stage 2: </a:t>
                      </a:r>
                      <a:r>
                        <a:rPr lang="en" i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Code that writes code</a:t>
                      </a:r>
                      <a:endParaRPr i="1"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Internal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create_ad_adsl.R</a:t>
                      </a: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 script combines generic chunks to construct 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ad_adsl.R</a:t>
                      </a: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 template - still provided to users through {admiralroche}</a:t>
                      </a:r>
                      <a:endParaRPr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Stage 3: </a:t>
                      </a:r>
                      <a:r>
                        <a:rPr lang="en" i="1"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Code that writes code that writes code</a:t>
                      </a:r>
                      <a:endParaRPr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pc="8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use_adsl_template()</a:t>
                      </a:r>
                      <a:r>
                        <a:rPr lang="en" spc="8">
                          <a:highlight>
                            <a:srgbClr val="FFFFFF"/>
                          </a:highlight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 functions dynamically generates </a:t>
                      </a:r>
                      <a:r>
                        <a:rPr lang="en" i="1" spc="8">
                          <a:highlight>
                            <a:srgbClr val="FFFFFF"/>
                          </a:highlight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custom </a:t>
                      </a:r>
                      <a:r>
                        <a:rPr lang="en" spc="8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create_adsl.R</a:t>
                      </a:r>
                      <a:r>
                        <a:rPr lang="en" spc="8">
                          <a:highlight>
                            <a:srgbClr val="FFFFFF"/>
                          </a:highlight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 script by choosing chunks based on user input, this custom script is automatically executed to serve </a:t>
                      </a:r>
                      <a:r>
                        <a:rPr lang="en" i="1" spc="8">
                          <a:highlight>
                            <a:srgbClr val="FFFFFF"/>
                          </a:highlight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custom </a:t>
                      </a:r>
                      <a:r>
                        <a:rPr lang="en" spc="8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ad_adsl.R</a:t>
                      </a:r>
                      <a:r>
                        <a:rPr lang="en" spc="8">
                          <a:highlight>
                            <a:srgbClr val="FFFFFF"/>
                          </a:highlight>
                          <a:latin typeface="Roche Sans"/>
                          <a:ea typeface="Roche Sans"/>
                          <a:cs typeface="Roche Sans"/>
                          <a:sym typeface="Roche Sans"/>
                        </a:rPr>
                        <a:t> to the user</a:t>
                      </a:r>
                      <a:endParaRPr>
                        <a:latin typeface="Roche Sans"/>
                        <a:ea typeface="Roche Sans"/>
                        <a:cs typeface="Roche Sans"/>
                        <a:sym typeface="Roche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 l="50157" t="52050"/>
          <a:stretch/>
        </p:blipFill>
        <p:spPr>
          <a:xfrm>
            <a:off x="3407200" y="3838025"/>
            <a:ext cx="2213350" cy="11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 descr="Chapter Title"/>
          <p:cNvSpPr txBox="1">
            <a:spLocks noGrp="1"/>
          </p:cNvSpPr>
          <p:nvPr>
            <p:ph type="title"/>
          </p:nvPr>
        </p:nvSpPr>
        <p:spPr>
          <a:xfrm>
            <a:off x="628200" y="2207450"/>
            <a:ext cx="5213700" cy="841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Conclusion: Reflections and Further Work, Recommendations</a:t>
            </a:r>
            <a:endParaRPr/>
          </a:p>
        </p:txBody>
      </p:sp>
      <p:pic>
        <p:nvPicPr>
          <p:cNvPr id="270" name="Google Shape;2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6775" y="93500"/>
            <a:ext cx="362902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>
            <a:spLocks noGrp="1"/>
          </p:cNvSpPr>
          <p:nvPr>
            <p:ph type="title"/>
          </p:nvPr>
        </p:nvSpPr>
        <p:spPr>
          <a:xfrm>
            <a:off x="306825" y="432675"/>
            <a:ext cx="76962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Reflections and Further Work</a:t>
            </a:r>
            <a:endParaRPr/>
          </a:p>
        </p:txBody>
      </p:sp>
      <p:sp>
        <p:nvSpPr>
          <p:cNvPr id="276" name="Google Shape;276;p36"/>
          <p:cNvSpPr txBox="1">
            <a:spLocks noGrp="1"/>
          </p:cNvSpPr>
          <p:nvPr>
            <p:ph type="body" idx="2"/>
          </p:nvPr>
        </p:nvSpPr>
        <p:spPr>
          <a:xfrm>
            <a:off x="306825" y="1063150"/>
            <a:ext cx="8768400" cy="26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b="1">
                <a:latin typeface="Roche Sans"/>
                <a:ea typeface="Roche Sans"/>
                <a:cs typeface="Roche Sans"/>
                <a:sym typeface="Roche Sans"/>
              </a:rPr>
              <a:t>🤔</a:t>
            </a: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Looking back…</a:t>
            </a:r>
            <a:endParaRPr b="1" u="sng">
              <a:latin typeface="Roche Sans"/>
              <a:ea typeface="Roche Sans"/>
              <a:cs typeface="Roche Sans"/>
              <a:sym typeface="Roche San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It would have been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 difficult to jump straight to stage 3</a:t>
            </a:r>
            <a:r>
              <a:rPr lang="en"/>
              <a:t> </a:t>
            </a:r>
            <a:r>
              <a:rPr lang="en" i="1"/>
              <a:t>(code that writes code that writes code) </a:t>
            </a:r>
            <a:r>
              <a:rPr lang="en"/>
              <a:t>because our learnings from previous stages influenced design decisions.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The end product is a great example of a case where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deterministic automation trumps probabilistic AI</a:t>
            </a:r>
            <a:r>
              <a:rPr lang="en"/>
              <a:t>: we don’t have AI guessing what the ADaM code should be, rather we have a chunk library and use it to automatically build fit-for-purpose templates.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Initial script creation times for our users have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halved</a:t>
            </a:r>
            <a:r>
              <a:rPr lang="en"/>
              <a:t>, as has the maintenance load for {admiralroche} developers. 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9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💡</a:t>
            </a:r>
            <a:r>
              <a:rPr lang="en" b="1" u="sng">
                <a:latin typeface="Roche Sans"/>
                <a:ea typeface="Roche Sans"/>
                <a:cs typeface="Roche Sans"/>
                <a:sym typeface="Roche Sans"/>
              </a:rPr>
              <a:t>Looking forward…</a:t>
            </a:r>
            <a:endParaRPr b="1" u="sng">
              <a:latin typeface="Roche Sans"/>
              <a:ea typeface="Roche Sans"/>
              <a:cs typeface="Roche Sans"/>
              <a:sym typeface="Roche San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AI agents could read specifications and make selections for users.</a:t>
            </a:r>
            <a:endParaRPr/>
          </a:p>
          <a:p>
            <a:pPr marL="457200" lvl="0" indent="-304800" algn="l" rtl="0">
              <a:spcBef>
                <a:spcPts val="400"/>
              </a:spcBef>
              <a:spcAft>
                <a:spcPts val="300"/>
              </a:spcAft>
              <a:buSzPts val="1200"/>
              <a:buChar char="■"/>
            </a:pPr>
            <a:r>
              <a:rPr lang="en"/>
              <a:t>Exposing statistical programmers to some of this infrastructure, allowing them to make their own chunks, to maintain study-specifics at higher level such as across-molecule or TA - maybe this is Stage 4 😮</a:t>
            </a:r>
            <a:endParaRPr/>
          </a:p>
        </p:txBody>
      </p:sp>
      <p:pic>
        <p:nvPicPr>
          <p:cNvPr id="277" name="Google Shape;277;p36"/>
          <p:cNvPicPr preferRelativeResize="0"/>
          <p:nvPr/>
        </p:nvPicPr>
        <p:blipFill rotWithShape="1">
          <a:blip r:embed="rId3">
            <a:alphaModFix/>
          </a:blip>
          <a:srcRect r="50000" b="34163"/>
          <a:stretch/>
        </p:blipFill>
        <p:spPr>
          <a:xfrm>
            <a:off x="867171" y="4309656"/>
            <a:ext cx="1150672" cy="731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6"/>
          <p:cNvPicPr preferRelativeResize="0"/>
          <p:nvPr/>
        </p:nvPicPr>
        <p:blipFill rotWithShape="1">
          <a:blip r:embed="rId3">
            <a:alphaModFix/>
          </a:blip>
          <a:srcRect l="50157" t="52050"/>
          <a:stretch/>
        </p:blipFill>
        <p:spPr>
          <a:xfrm>
            <a:off x="6888640" y="4308290"/>
            <a:ext cx="1167781" cy="731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6"/>
          <p:cNvPicPr preferRelativeResize="0"/>
          <p:nvPr/>
        </p:nvPicPr>
        <p:blipFill rotWithShape="1">
          <a:blip r:embed="rId3">
            <a:alphaModFix/>
          </a:blip>
          <a:srcRect l="50293" b="49930"/>
          <a:stretch/>
        </p:blipFill>
        <p:spPr>
          <a:xfrm>
            <a:off x="3591051" y="4309656"/>
            <a:ext cx="1492131" cy="73169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6"/>
          <p:cNvSpPr/>
          <p:nvPr/>
        </p:nvSpPr>
        <p:spPr>
          <a:xfrm rot="-2809">
            <a:off x="2202177" y="4532686"/>
            <a:ext cx="1101300" cy="28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10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4925" tIns="104925" rIns="104925" bIns="104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7"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  <p:sp>
        <p:nvSpPr>
          <p:cNvPr id="281" name="Google Shape;281;p36"/>
          <p:cNvSpPr/>
          <p:nvPr/>
        </p:nvSpPr>
        <p:spPr>
          <a:xfrm rot="-3342">
            <a:off x="5337787" y="4532836"/>
            <a:ext cx="1234201" cy="282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10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4925" tIns="104925" rIns="104925" bIns="104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7"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>
            <a:spLocks noGrp="1"/>
          </p:cNvSpPr>
          <p:nvPr>
            <p:ph type="title"/>
          </p:nvPr>
        </p:nvSpPr>
        <p:spPr>
          <a:xfrm>
            <a:off x="306825" y="432675"/>
            <a:ext cx="76962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287" name="Google Shape;287;p37"/>
          <p:cNvSpPr txBox="1">
            <a:spLocks noGrp="1"/>
          </p:cNvSpPr>
          <p:nvPr>
            <p:ph type="body" idx="2"/>
          </p:nvPr>
        </p:nvSpPr>
        <p:spPr>
          <a:xfrm>
            <a:off x="306825" y="1063150"/>
            <a:ext cx="5682000" cy="297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You can easily set up your own {admiral&lt;company&gt;} package to begin with, at the very least to provide your users with templates that are a close starting point for their ADaMs.</a:t>
            </a:r>
            <a:endParaRPr/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These templates should be allowed to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grow organically and stabilise</a:t>
            </a:r>
            <a:r>
              <a:rPr lang="en"/>
              <a:t> before you attempt to abstract further.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Don’t underestimate the importance of setting up a package like {scriptr} as the automation engine.</a:t>
            </a:r>
            <a:endParaRPr/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A set of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mature and stable company ADaM implementation standards</a:t>
            </a:r>
            <a:r>
              <a:rPr lang="en"/>
              <a:t> is just as important as your R package.</a:t>
            </a:r>
            <a:endParaRPr/>
          </a:p>
        </p:txBody>
      </p:sp>
      <p:pic>
        <p:nvPicPr>
          <p:cNvPr id="288" name="Google Shape;28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9475" y="1633331"/>
            <a:ext cx="1768500" cy="204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>
            <a:spLocks noGrp="1"/>
          </p:cNvSpPr>
          <p:nvPr>
            <p:ph type="title"/>
          </p:nvPr>
        </p:nvSpPr>
        <p:spPr>
          <a:xfrm>
            <a:off x="306825" y="432675"/>
            <a:ext cx="76962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listening!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8"/>
          <p:cNvSpPr txBox="1">
            <a:spLocks noGrp="1"/>
          </p:cNvSpPr>
          <p:nvPr>
            <p:ph type="body" idx="2"/>
          </p:nvPr>
        </p:nvSpPr>
        <p:spPr>
          <a:xfrm>
            <a:off x="306825" y="1090075"/>
            <a:ext cx="4804500" cy="232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Special thank you to Stefan Bundfuss for his invaluable expertise and leadership as lead developer on {admiralroche} and {scriptr}</a:t>
            </a:r>
            <a:endParaRPr/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Thank you to Roche for allowing us to deliver this talk.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9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9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9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300"/>
              </a:spcAft>
              <a:buNone/>
            </a:pPr>
            <a:endParaRPr sz="900"/>
          </a:p>
        </p:txBody>
      </p:sp>
      <p:pic>
        <p:nvPicPr>
          <p:cNvPr id="295" name="Google Shape;29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7150" y="1090075"/>
            <a:ext cx="3329268" cy="249695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8"/>
          <p:cNvSpPr txBox="1"/>
          <p:nvPr/>
        </p:nvSpPr>
        <p:spPr>
          <a:xfrm>
            <a:off x="2656530" y="4080675"/>
            <a:ext cx="31404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Edoardo Mancini</a:t>
            </a:r>
            <a:endParaRPr b="1">
              <a:solidFill>
                <a:schemeClr val="dk1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i="1">
                <a:latin typeface="Roche Sans Light"/>
                <a:ea typeface="Roche Sans Light"/>
                <a:cs typeface="Roche Sans Light"/>
                <a:sym typeface="Roche Sans Light"/>
              </a:rPr>
              <a:t>Roche Products Ltd, UK</a:t>
            </a:r>
            <a:endParaRPr i="1">
              <a:latin typeface="Roche Sans Light"/>
              <a:ea typeface="Roche Sans Light"/>
              <a:cs typeface="Roche Sans Light"/>
              <a:sym typeface="Roche Sans Light"/>
            </a:endParaRP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" u="sng">
                <a:solidFill>
                  <a:schemeClr val="hlink"/>
                </a:solidFill>
                <a:latin typeface="Roche Sans Light"/>
                <a:ea typeface="Roche Sans Light"/>
                <a:cs typeface="Roche Sans Light"/>
                <a:sym typeface="Roche Sans Light"/>
                <a:hlinkClick r:id="rId4"/>
              </a:rPr>
              <a:t>edoardo.mancini@roche.com</a:t>
            </a: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 </a:t>
            </a:r>
            <a:endParaRPr/>
          </a:p>
        </p:txBody>
      </p:sp>
      <p:sp>
        <p:nvSpPr>
          <p:cNvPr id="297" name="Google Shape;297;p38"/>
          <p:cNvSpPr txBox="1"/>
          <p:nvPr/>
        </p:nvSpPr>
        <p:spPr>
          <a:xfrm>
            <a:off x="5360581" y="4080675"/>
            <a:ext cx="30000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Stefan Bundfuss</a:t>
            </a:r>
            <a:endParaRPr b="1">
              <a:solidFill>
                <a:schemeClr val="dk1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i="1">
                <a:latin typeface="Roche Sans Light"/>
                <a:ea typeface="Roche Sans Light"/>
                <a:cs typeface="Roche Sans Light"/>
                <a:sym typeface="Roche Sans Light"/>
              </a:rPr>
              <a:t>Syneos Health, Germany</a:t>
            </a:r>
            <a:endParaRPr i="1">
              <a:latin typeface="Roche Sans Light"/>
              <a:ea typeface="Roche Sans Light"/>
              <a:cs typeface="Roche Sans Light"/>
              <a:sym typeface="Roche Sans Light"/>
            </a:endParaRP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" u="sng">
                <a:solidFill>
                  <a:schemeClr val="hlink"/>
                </a:solidFill>
                <a:latin typeface="Roche Sans Light"/>
                <a:ea typeface="Roche Sans Light"/>
                <a:cs typeface="Roche Sans Light"/>
                <a:sym typeface="Roche Sans Light"/>
                <a:hlinkClick r:id="rId5"/>
              </a:rPr>
              <a:t>stefan.bundfuss@external.roche.com</a:t>
            </a: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 </a:t>
            </a:r>
            <a:endParaRPr/>
          </a:p>
        </p:txBody>
      </p:sp>
      <p:sp>
        <p:nvSpPr>
          <p:cNvPr id="298" name="Google Shape;298;p38"/>
          <p:cNvSpPr txBox="1"/>
          <p:nvPr/>
        </p:nvSpPr>
        <p:spPr>
          <a:xfrm>
            <a:off x="218005" y="4080675"/>
            <a:ext cx="22689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Gordon Miller</a:t>
            </a:r>
            <a:endParaRPr b="1">
              <a:solidFill>
                <a:schemeClr val="dk1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i="1">
                <a:latin typeface="Roche Sans Light"/>
                <a:ea typeface="Roche Sans Light"/>
                <a:cs typeface="Roche Sans Light"/>
                <a:sym typeface="Roche Sans Light"/>
              </a:rPr>
              <a:t>Roche Products Ltd, UK</a:t>
            </a:r>
            <a:endParaRPr i="1">
              <a:latin typeface="Roche Sans Light"/>
              <a:ea typeface="Roche Sans Light"/>
              <a:cs typeface="Roche Sans Light"/>
              <a:sym typeface="Roche Sans Light"/>
            </a:endParaRP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" u="sng">
                <a:solidFill>
                  <a:schemeClr val="hlink"/>
                </a:solidFill>
                <a:latin typeface="Roche Sans Light"/>
                <a:ea typeface="Roche Sans Light"/>
                <a:cs typeface="Roche Sans Light"/>
                <a:sym typeface="Roche Sans Light"/>
                <a:hlinkClick r:id="rId6"/>
              </a:rPr>
              <a:t>gordon.miller@roche.com</a:t>
            </a: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 </a:t>
            </a:r>
            <a:endParaRPr/>
          </a:p>
        </p:txBody>
      </p:sp>
      <p:sp>
        <p:nvSpPr>
          <p:cNvPr id="299" name="Google Shape;299;p38"/>
          <p:cNvSpPr txBox="1"/>
          <p:nvPr/>
        </p:nvSpPr>
        <p:spPr>
          <a:xfrm>
            <a:off x="218005" y="3587025"/>
            <a:ext cx="21882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">
                <a:latin typeface="Roche Sans Light"/>
                <a:ea typeface="Roche Sans Light"/>
                <a:cs typeface="Roche Sans Light"/>
                <a:sym typeface="Roche Sans Light"/>
              </a:rPr>
              <a:t>Contact details:</a:t>
            </a:r>
            <a:endParaRPr sz="1600"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>
            <a:spLocks noGrp="1"/>
          </p:cNvSpPr>
          <p:nvPr>
            <p:ph type="title"/>
          </p:nvPr>
        </p:nvSpPr>
        <p:spPr>
          <a:xfrm>
            <a:off x="306825" y="432675"/>
            <a:ext cx="76962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Back-up slide 1: Why is {scriptr} not open-source (yet?)</a:t>
            </a:r>
            <a:endParaRPr dirty="0"/>
          </a:p>
        </p:txBody>
      </p:sp>
      <p:sp>
        <p:nvSpPr>
          <p:cNvPr id="305" name="Google Shape;305;p39"/>
          <p:cNvSpPr txBox="1">
            <a:spLocks noGrp="1"/>
          </p:cNvSpPr>
          <p:nvPr>
            <p:ph type="body" idx="2"/>
          </p:nvPr>
        </p:nvSpPr>
        <p:spPr>
          <a:xfrm>
            <a:off x="306825" y="1063150"/>
            <a:ext cx="5682000" cy="297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There is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no direct blockage</a:t>
            </a:r>
            <a:r>
              <a:rPr lang="en"/>
              <a:t> to open-sourcing {scriptr}. However: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When {scriptr} was in active development, it was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easier to develop it within our closed-source ecosystem</a:t>
            </a:r>
            <a:r>
              <a:rPr lang="en"/>
              <a:t> alongside {admiralroche}.</a:t>
            </a:r>
            <a:endParaRPr/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We assessed that other sponsors may not yet be at a point where they would use {scriptr}.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300"/>
              </a:spcAft>
              <a:buNone/>
            </a:pPr>
            <a:r>
              <a:rPr lang="en"/>
              <a:t>If interest in the package grows, and other sponsors/individuals want to commit developer resource to the package, we would look to open-source it.</a:t>
            </a:r>
            <a:endParaRPr/>
          </a:p>
        </p:txBody>
      </p:sp>
      <p:pic>
        <p:nvPicPr>
          <p:cNvPr id="306" name="Google Shape;3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9475" y="1633331"/>
            <a:ext cx="1768500" cy="204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0"/>
          <p:cNvSpPr txBox="1">
            <a:spLocks noGrp="1"/>
          </p:cNvSpPr>
          <p:nvPr>
            <p:ph type="title"/>
          </p:nvPr>
        </p:nvSpPr>
        <p:spPr>
          <a:xfrm>
            <a:off x="306825" y="432675"/>
            <a:ext cx="7696200" cy="381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Back-up slide 2: The {admiralrochetools} split</a:t>
            </a:r>
            <a:endParaRPr/>
          </a:p>
        </p:txBody>
      </p:sp>
      <p:sp>
        <p:nvSpPr>
          <p:cNvPr id="312" name="Google Shape;312;p40"/>
          <p:cNvSpPr txBox="1">
            <a:spLocks noGrp="1"/>
          </p:cNvSpPr>
          <p:nvPr>
            <p:ph type="body" idx="2"/>
          </p:nvPr>
        </p:nvSpPr>
        <p:spPr>
          <a:xfrm>
            <a:off x="306825" y="1063150"/>
            <a:ext cx="68553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In this presentation, for simplicity we did not mention that in actual fact, prior to Stage 3 we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split {admiralroche} into two separate packages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{admiralroche} retained the Roche-specific derivation functions and their docs.</a:t>
            </a:r>
            <a:endParaRPr/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117647"/>
              </a:lnSpc>
              <a:spcBef>
                <a:spcPts val="300"/>
              </a:spcBef>
              <a:spcAft>
                <a:spcPts val="0"/>
              </a:spcAft>
              <a:buSzPts val="1200"/>
              <a:buChar char="■"/>
            </a:pPr>
            <a:r>
              <a:rPr lang="en">
                <a:solidFill>
                  <a:srgbClr val="17191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🆕 </a:t>
            </a:r>
            <a:r>
              <a:rPr lang="en"/>
              <a:t>{admiralrochetools} was created to house all the machinery for the ADaM templates.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Why? Mainly to </a:t>
            </a:r>
            <a:r>
              <a:rPr lang="en" b="1">
                <a:solidFill>
                  <a:schemeClr val="dk1"/>
                </a:solidFill>
                <a:latin typeface="Roche Sans"/>
                <a:ea typeface="Roche Sans"/>
                <a:cs typeface="Roche Sans"/>
                <a:sym typeface="Roche Sans"/>
              </a:rPr>
              <a:t>slim regulatory packages</a:t>
            </a:r>
            <a:r>
              <a:rPr lang="en"/>
              <a:t> (no need to submit templates, i.e. no need to submit {admiralrochetools}).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300"/>
              </a:spcAft>
              <a:buNone/>
            </a:pPr>
            <a:r>
              <a:rPr lang="en"/>
              <a:t>For more details, please see our paper.</a:t>
            </a:r>
            <a:endParaRPr/>
          </a:p>
        </p:txBody>
      </p:sp>
      <p:pic>
        <p:nvPicPr>
          <p:cNvPr id="313" name="Google Shape;31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525" y="1082942"/>
            <a:ext cx="1457775" cy="150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9525" y="2729100"/>
            <a:ext cx="1417335" cy="150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oche Evolved Brand">
  <a:themeElements>
    <a:clrScheme name="Custom">
      <a:dk1>
        <a:srgbClr val="0B41CD"/>
      </a:dk1>
      <a:lt1>
        <a:srgbClr val="1482FA"/>
      </a:lt1>
      <a:dk2>
        <a:srgbClr val="BDE3FF"/>
      </a:dk2>
      <a:lt2>
        <a:srgbClr val="FAC9B5"/>
      </a:lt2>
      <a:accent1>
        <a:srgbClr val="ED4A0D"/>
      </a:accent1>
      <a:accent2>
        <a:srgbClr val="BC36F0"/>
      </a:accent2>
      <a:accent3>
        <a:srgbClr val="C40000"/>
      </a:accent3>
      <a:accent4>
        <a:srgbClr val="022366"/>
      </a:accent4>
      <a:accent5>
        <a:srgbClr val="FAD6C7"/>
      </a:accent5>
      <a:accent6>
        <a:srgbClr val="FFE8DE"/>
      </a:accent6>
      <a:hlink>
        <a:srgbClr val="0B41CD"/>
      </a:hlink>
      <a:folHlink>
        <a:srgbClr val="0B41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2027</Words>
  <Application>Microsoft Office PowerPoint</Application>
  <PresentationFormat>On-screen Show (16:9)</PresentationFormat>
  <Paragraphs>191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Roche Sans Condensed Light</vt:lpstr>
      <vt:lpstr>Roche Sans</vt:lpstr>
      <vt:lpstr>Roche Sans Medium</vt:lpstr>
      <vt:lpstr>Roboto Mono</vt:lpstr>
      <vt:lpstr>Roche Sans Light</vt:lpstr>
      <vt:lpstr>Roche Serif Light</vt:lpstr>
      <vt:lpstr>Arial</vt:lpstr>
      <vt:lpstr>Roche Evolved Brand</vt:lpstr>
      <vt:lpstr>SM11 - Code that writes code that writes code?! Creating ADaMs in R with {admiralroche}</vt:lpstr>
      <vt:lpstr>Table of contents</vt:lpstr>
      <vt:lpstr>Background</vt:lpstr>
      <vt:lpstr>The open source {admiral} framework makes it very easy to get simple ADaM template programs…</vt:lpstr>
      <vt:lpstr>…but are these templates really that close to Roche’s interpretation of the ADaM standards?</vt:lpstr>
      <vt:lpstr>Now we can provide our own custom Roche ADaM templates!</vt:lpstr>
      <vt:lpstr>Example: (portions of) an {admiralroche} template</vt:lpstr>
      <vt:lpstr>Stage 1: Code</vt:lpstr>
      <vt:lpstr>{admiralroche}’s initial (static) ADaM templates </vt:lpstr>
      <vt:lpstr>Summary: where are we at so far? </vt:lpstr>
      <vt:lpstr>Stage 2: Code that writes code?!</vt:lpstr>
      <vt:lpstr>Abstracting away common chunks of the templates (1/3)  </vt:lpstr>
      <vt:lpstr>Abstracting away common chunks of the templates (2/3)  </vt:lpstr>
      <vt:lpstr>Abstracting away common chunks of the templates (3/3)  </vt:lpstr>
      <vt:lpstr>Summary: where are we at so far? </vt:lpstr>
      <vt:lpstr>Stage 3: Code that writes code that writes code!</vt:lpstr>
      <vt:lpstr>Building “dynamic” ADaM templates (1/2)  </vt:lpstr>
      <vt:lpstr>Building “dynamic” ADaM templates (2/2)  </vt:lpstr>
      <vt:lpstr>Summary: where did we get to? </vt:lpstr>
      <vt:lpstr>Conclusion: Reflections and Further Work, Recommendations</vt:lpstr>
      <vt:lpstr>Reflections and Further Work</vt:lpstr>
      <vt:lpstr>Recommendations</vt:lpstr>
      <vt:lpstr>Thank you for listening! </vt:lpstr>
      <vt:lpstr>Back-up slide 1: Why is {scriptr} not open-source (yet?)</vt:lpstr>
      <vt:lpstr>Back-up slide 2: The {admiralrochetools} split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Edoardo Mancini</cp:lastModifiedBy>
  <cp:revision>1</cp:revision>
  <dcterms:modified xsi:type="dcterms:W3CDTF">2026-10-27T08:55:52Z</dcterms:modified>
</cp:coreProperties>
</file>