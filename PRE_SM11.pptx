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5143500" cx="9144000"/>
  <p:notesSz cx="6858000" cy="9144000"/>
  <p:embeddedFontLst>
    <p:embeddedFont>
      <p:font typeface="Roche Sans"/>
      <p:regular r:id="rId30"/>
      <p:bold r:id="rId31"/>
      <p:italic r:id="rId32"/>
      <p:boldItalic r:id="rId33"/>
    </p:embeddedFont>
    <p:embeddedFont>
      <p:font typeface="Roche Sans Medium"/>
      <p:regular r:id="rId34"/>
      <p:bold r:id="rId35"/>
      <p:italic r:id="rId36"/>
      <p:boldItalic r:id="rId37"/>
    </p:embeddedFont>
    <p:embeddedFont>
      <p:font typeface="Roche Sans Light"/>
      <p:regular r:id="rId38"/>
      <p:bold r:id="rId39"/>
      <p:italic r:id="rId40"/>
      <p:boldItalic r:id="rId41"/>
    </p:embeddedFont>
    <p:embeddedFont>
      <p:font typeface="Roche Serif Light"/>
      <p:regular r:id="rId42"/>
      <p:bold r:id="rId43"/>
      <p:italic r:id="rId44"/>
      <p:boldItalic r:id="rId45"/>
    </p:embeddedFont>
    <p:embeddedFont>
      <p:font typeface="Roche Sans Condensed Light"/>
      <p:regular r:id="rId46"/>
      <p:bold r:id="rId47"/>
      <p:italic r:id="rId48"/>
      <p:boldItalic r:id="rId49"/>
    </p:embeddedFont>
    <p:embeddedFont>
      <p:font typeface="Roboto Mono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CED062A-D991-45DC-B9B7-9121D6024991}">
  <a:tblStyle styleId="{ECED062A-D991-45DC-B9B7-9121D602499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cheSansLight-italic.fntdata"/><Relationship Id="rId42" Type="http://schemas.openxmlformats.org/officeDocument/2006/relationships/font" Target="fonts/RocheSerifLight-regular.fntdata"/><Relationship Id="rId41" Type="http://schemas.openxmlformats.org/officeDocument/2006/relationships/font" Target="fonts/RocheSansLight-boldItalic.fntdata"/><Relationship Id="rId44" Type="http://schemas.openxmlformats.org/officeDocument/2006/relationships/font" Target="fonts/RocheSerifLight-italic.fntdata"/><Relationship Id="rId43" Type="http://schemas.openxmlformats.org/officeDocument/2006/relationships/font" Target="fonts/RocheSerifLight-bold.fntdata"/><Relationship Id="rId46" Type="http://schemas.openxmlformats.org/officeDocument/2006/relationships/font" Target="fonts/RocheSansCondensedLight-regular.fntdata"/><Relationship Id="rId45" Type="http://schemas.openxmlformats.org/officeDocument/2006/relationships/font" Target="fonts/RocheSerifLigh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RocheSansCondensedLight-italic.fntdata"/><Relationship Id="rId47" Type="http://schemas.openxmlformats.org/officeDocument/2006/relationships/font" Target="fonts/RocheSansCondensedLight-bold.fntdata"/><Relationship Id="rId49" Type="http://schemas.openxmlformats.org/officeDocument/2006/relationships/font" Target="fonts/RocheSansCondensedLight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cheSans-bold.fntdata"/><Relationship Id="rId30" Type="http://schemas.openxmlformats.org/officeDocument/2006/relationships/font" Target="fonts/RocheSans-regular.fntdata"/><Relationship Id="rId33" Type="http://schemas.openxmlformats.org/officeDocument/2006/relationships/font" Target="fonts/RocheSans-boldItalic.fntdata"/><Relationship Id="rId32" Type="http://schemas.openxmlformats.org/officeDocument/2006/relationships/font" Target="fonts/RocheSans-italic.fntdata"/><Relationship Id="rId35" Type="http://schemas.openxmlformats.org/officeDocument/2006/relationships/font" Target="fonts/RocheSansMedium-bold.fntdata"/><Relationship Id="rId34" Type="http://schemas.openxmlformats.org/officeDocument/2006/relationships/font" Target="fonts/RocheSansMedium-regular.fntdata"/><Relationship Id="rId37" Type="http://schemas.openxmlformats.org/officeDocument/2006/relationships/font" Target="fonts/RocheSansMedium-boldItalic.fntdata"/><Relationship Id="rId36" Type="http://schemas.openxmlformats.org/officeDocument/2006/relationships/font" Target="fonts/RocheSansMedium-italic.fntdata"/><Relationship Id="rId39" Type="http://schemas.openxmlformats.org/officeDocument/2006/relationships/font" Target="fonts/RocheSansLight-bold.fntdata"/><Relationship Id="rId38" Type="http://schemas.openxmlformats.org/officeDocument/2006/relationships/font" Target="fonts/RocheSansLight-regular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RobotoMono-bold.fntdata"/><Relationship Id="rId50" Type="http://schemas.openxmlformats.org/officeDocument/2006/relationships/font" Target="fonts/RobotoMono-regular.fntdata"/><Relationship Id="rId53" Type="http://schemas.openxmlformats.org/officeDocument/2006/relationships/font" Target="fonts/RobotoMono-boldItalic.fntdata"/><Relationship Id="rId52" Type="http://schemas.openxmlformats.org/officeDocument/2006/relationships/font" Target="fonts/RobotoMono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phuse.s3.eu-central-1.amazonaws.com/Archive/2024/Connect/US/Bethesda/PAP_OS05.pdf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SLIDES_API1127075888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SLIDES_API1127075888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SLIDES_API1127075888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SLIDES_API1127075888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409b1258e3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409b1258e3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409b147f7a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409b147f7a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SLIDES_API1127075888_4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SLIDES_API1127075888_4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Mention: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Any company could create their own admiral extension package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Existing PHUSE US presentation and paper about admiralroche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https://phuse.s3.eu-central-1.amazonaws.com/Archive/2024/Connect/US/Bethesda/PAP_OS05.pdf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409b1258e3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409b1258e3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409af1b4c34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409af1b4c34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409b1258e3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409b1258e3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409b8f2139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409b8f2139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2ee23a795a199540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h2ee23a795a199540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409b1258e3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409b1258e3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409b8f2139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409b8f2139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409b8f21399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409b8f21399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409b8f21399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409b8f21399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h2ee23a795a199540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h2ee23a795a199540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409af1b4c3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409af1b4c3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409b8f21399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409b8f21399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412b98675d3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412b98675d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2ee23a795a199540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h2ee23a795a199540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409b1258e3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409b1258e3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409b1258e34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409b1258e34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Mention:</a:t>
            </a:r>
            <a:endParaRPr b="1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"/>
              <a:t>Chunks could be unit-</a:t>
            </a:r>
            <a:r>
              <a:rPr b="1" lang="en"/>
              <a:t>tested</a:t>
            </a:r>
            <a:endParaRPr b="1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412b98675d3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412b98675d3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412b98675d3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412b98675d3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 - Blank" type="title">
  <p:cSld name="TITLE">
    <p:bg>
      <p:bgPr>
        <a:solidFill>
          <a:srgbClr val="000000">
            <a:alpha val="0"/>
          </a:srgbClr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pos="5544">
          <p15:clr>
            <a:srgbClr val="FA7B17"/>
          </p15:clr>
        </p15:guide>
        <p15:guide id="2" orient="horz" pos="3075">
          <p15:clr>
            <a:srgbClr val="FA7B17"/>
          </p15:clr>
        </p15:guide>
        <p15:guide id="3" pos="360">
          <p15:clr>
            <a:srgbClr val="FA7B17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a - Cover">
  <p:cSld name="TITLE_2_1">
    <p:bg>
      <p:bgPr>
        <a:solidFill>
          <a:srgbClr val="F5F5F2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3"/>
          <p:cNvSpPr txBox="1"/>
          <p:nvPr>
            <p:ph type="ctrTitle"/>
          </p:nvPr>
        </p:nvSpPr>
        <p:spPr>
          <a:xfrm>
            <a:off x="4572000" y="1394801"/>
            <a:ext cx="4229100" cy="1581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572100" y="3040033"/>
            <a:ext cx="4229100" cy="41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6" name="Google Shape;16;p3"/>
          <p:cNvSpPr/>
          <p:nvPr>
            <p:ph idx="2" type="pic"/>
          </p:nvPr>
        </p:nvSpPr>
        <p:spPr>
          <a:xfrm>
            <a:off x="0" y="-3450"/>
            <a:ext cx="4127100" cy="5150400"/>
          </a:xfrm>
          <a:prstGeom prst="rect">
            <a:avLst/>
          </a:prstGeom>
          <a:noFill/>
          <a:ln>
            <a:noFill/>
          </a:ln>
        </p:spPr>
      </p:sp>
      <p:pic>
        <p:nvPicPr>
          <p:cNvPr id="17" name="Google Shape;17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3" type="subTitle"/>
          </p:nvPr>
        </p:nvSpPr>
        <p:spPr>
          <a:xfrm>
            <a:off x="4572100" y="3542642"/>
            <a:ext cx="4229100" cy="5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4" type="subTitle"/>
          </p:nvPr>
        </p:nvSpPr>
        <p:spPr>
          <a:xfrm>
            <a:off x="4572100" y="4846784"/>
            <a:ext cx="4229100" cy="1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FA7B17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b - Alternative cover">
  <p:cSld name="TITLE_1">
    <p:bg>
      <p:bgPr>
        <a:solidFill>
          <a:srgbClr val="F5F5F2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571450" y="2393733"/>
            <a:ext cx="6549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706B69"/>
              </a:solidFill>
              <a:latin typeface="Roche Sans Condensed Light"/>
              <a:ea typeface="Roche Sans Condensed Light"/>
              <a:cs typeface="Roche Sans Condensed Light"/>
              <a:sym typeface="Roche Sans Condensed Light"/>
            </a:endParaRPr>
          </a:p>
        </p:txBody>
      </p:sp>
      <p:sp>
        <p:nvSpPr>
          <p:cNvPr id="23" name="Google Shape;23;p4"/>
          <p:cNvSpPr txBox="1"/>
          <p:nvPr>
            <p:ph idx="1" type="subTitle"/>
          </p:nvPr>
        </p:nvSpPr>
        <p:spPr>
          <a:xfrm>
            <a:off x="571450" y="2393733"/>
            <a:ext cx="6549900" cy="43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24" name="Google Shape;24;p4"/>
          <p:cNvSpPr txBox="1"/>
          <p:nvPr>
            <p:ph type="ctrTitle"/>
          </p:nvPr>
        </p:nvSpPr>
        <p:spPr>
          <a:xfrm>
            <a:off x="571450" y="586475"/>
            <a:ext cx="6976800" cy="169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pic>
        <p:nvPicPr>
          <p:cNvPr id="25" name="Google Shape;2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>
            <p:ph idx="2" type="subTitle"/>
          </p:nvPr>
        </p:nvSpPr>
        <p:spPr>
          <a:xfrm>
            <a:off x="571450" y="2912299"/>
            <a:ext cx="4495200" cy="5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sp>
        <p:nvSpPr>
          <p:cNvPr id="27" name="Google Shape;27;p4"/>
          <p:cNvSpPr txBox="1"/>
          <p:nvPr>
            <p:ph idx="3" type="subTitle"/>
          </p:nvPr>
        </p:nvSpPr>
        <p:spPr>
          <a:xfrm>
            <a:off x="6016200" y="4840375"/>
            <a:ext cx="2784900" cy="1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pic>
        <p:nvPicPr>
          <p:cNvPr id="28" name="Google Shape;28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07075" y="123189"/>
            <a:ext cx="599200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 - Chapter divider" type="secHead">
  <p:cSld name="SECTION_HEADER">
    <p:bg>
      <p:bgPr>
        <a:solidFill>
          <a:srgbClr val="F5F5F2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5"/>
          <p:cNvSpPr txBox="1"/>
          <p:nvPr>
            <p:ph type="title"/>
          </p:nvPr>
        </p:nvSpPr>
        <p:spPr>
          <a:xfrm>
            <a:off x="571450" y="123200"/>
            <a:ext cx="82608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9pPr>
          </a:lstStyle>
          <a:p/>
        </p:txBody>
      </p:sp>
      <p:sp>
        <p:nvSpPr>
          <p:cNvPr id="32" name="Google Shape;32;p5"/>
          <p:cNvSpPr/>
          <p:nvPr/>
        </p:nvSpPr>
        <p:spPr>
          <a:xfrm rot="5400000">
            <a:off x="9126141" y="2565750"/>
            <a:ext cx="24900" cy="12000"/>
          </a:xfrm>
          <a:prstGeom prst="triangle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" name="Google Shape;3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07075" y="123189"/>
            <a:ext cx="599200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 - Table of contents">
  <p:cSld name="SECTION_HEADER_2">
    <p:bg>
      <p:bgPr>
        <a:solidFill>
          <a:srgbClr val="F5F5F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571450" y="2150850"/>
            <a:ext cx="43044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5641200" y="586475"/>
            <a:ext cx="3159900" cy="393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17500" lvl="0" marL="45720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/>
            </a:lvl1pPr>
            <a:lvl2pPr indent="-3175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/>
            </a:lvl2pPr>
            <a:lvl3pPr indent="-3175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/>
            </a:lvl3pPr>
            <a:lvl4pPr indent="-3175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pic>
        <p:nvPicPr>
          <p:cNvPr id="39" name="Google Shape;39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urpose statement">
  <p:cSld name="SECTION_HEADER_1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7"/>
          <p:cNvSpPr txBox="1"/>
          <p:nvPr/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B41CD"/>
                </a:solidFill>
                <a:latin typeface="Roche Sans Medium"/>
                <a:ea typeface="Roche Sans Medium"/>
                <a:cs typeface="Roche Sans Medium"/>
                <a:sym typeface="Roche Sans Medium"/>
              </a:rPr>
              <a:t>Doing now what patients need next</a:t>
            </a:r>
            <a:endParaRPr sz="2000">
              <a:solidFill>
                <a:srgbClr val="0B41CD"/>
              </a:solidFill>
              <a:latin typeface="Roche Sans Medium"/>
              <a:ea typeface="Roche Sans Medium"/>
              <a:cs typeface="Roche Sans Medium"/>
              <a:sym typeface="Roche Sans Medium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a - Title and 1 column" type="tx">
  <p:cSld name="TITLE_AND_BOD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/>
          <p:nvPr>
            <p:ph type="title"/>
          </p:nvPr>
        </p:nvSpPr>
        <p:spPr>
          <a:xfrm>
            <a:off x="571450" y="2424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1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46" name="Google Shape;46;p8"/>
          <p:cNvSpPr txBox="1"/>
          <p:nvPr>
            <p:ph idx="2" type="body"/>
          </p:nvPr>
        </p:nvSpPr>
        <p:spPr>
          <a:xfrm>
            <a:off x="571450" y="1442675"/>
            <a:ext cx="8229600" cy="336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400"/>
            </a:lvl1pPr>
            <a:lvl2pPr indent="-304800" lvl="1" marL="914400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2pPr>
            <a:lvl3pPr indent="-304800" lvl="2" marL="13716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9pPr>
          </a:lstStyle>
          <a:p/>
        </p:txBody>
      </p:sp>
      <p:pic>
        <p:nvPicPr>
          <p:cNvPr id="47" name="Google Shape;4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07075" y="123189"/>
            <a:ext cx="599200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b - Title and 1 column with picture">
  <p:cSld name="TITLE_AND_BODY_4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>
            <p:ph idx="2" type="pic"/>
          </p:nvPr>
        </p:nvSpPr>
        <p:spPr>
          <a:xfrm>
            <a:off x="5609275" y="1436225"/>
            <a:ext cx="3534600" cy="33990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9"/>
          <p:cNvSpPr txBox="1"/>
          <p:nvPr>
            <p:ph idx="1" type="body"/>
          </p:nvPr>
        </p:nvSpPr>
        <p:spPr>
          <a:xfrm>
            <a:off x="571450" y="1442675"/>
            <a:ext cx="4694700" cy="336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400"/>
            </a:lvl1pPr>
            <a:lvl2pPr indent="-304800" lvl="1" marL="914400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2pPr>
            <a:lvl3pPr indent="-304800" lvl="2" marL="13716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3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type="title"/>
          </p:nvPr>
        </p:nvSpPr>
        <p:spPr>
          <a:xfrm>
            <a:off x="571450" y="4326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9 - Title only">
  <p:cSld name="TITLE_AND_BODY_3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subTitle"/>
          </p:nvPr>
        </p:nvSpPr>
        <p:spPr>
          <a:xfrm>
            <a:off x="571450" y="813600"/>
            <a:ext cx="74304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55" name="Google Shape;55;p10"/>
          <p:cNvSpPr txBox="1"/>
          <p:nvPr>
            <p:ph type="title"/>
          </p:nvPr>
        </p:nvSpPr>
        <p:spPr>
          <a:xfrm>
            <a:off x="572400" y="432000"/>
            <a:ext cx="74304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6 - Title and 3 columns">
  <p:cSld name="TITLE_AND_BODY_2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/>
          <p:nvPr>
            <p:ph idx="1" type="body"/>
          </p:nvPr>
        </p:nvSpPr>
        <p:spPr>
          <a:xfrm flipH="1">
            <a:off x="571400" y="1442675"/>
            <a:ext cx="26091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58" name="Google Shape;58;p11"/>
          <p:cNvSpPr txBox="1"/>
          <p:nvPr>
            <p:ph idx="2" type="body"/>
          </p:nvPr>
        </p:nvSpPr>
        <p:spPr>
          <a:xfrm flipH="1">
            <a:off x="3381700" y="1442675"/>
            <a:ext cx="26091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3" type="body"/>
          </p:nvPr>
        </p:nvSpPr>
        <p:spPr>
          <a:xfrm flipH="1">
            <a:off x="6192000" y="1442675"/>
            <a:ext cx="26091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4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1" name="Google Shape;61;p11"/>
          <p:cNvSpPr txBox="1"/>
          <p:nvPr>
            <p:ph type="title"/>
          </p:nvPr>
        </p:nvSpPr>
        <p:spPr>
          <a:xfrm>
            <a:off x="571450" y="4326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131">
          <p15:clr>
            <a:srgbClr val="FA7B17"/>
          </p15:clr>
        </p15:guide>
        <p15:guide id="2" pos="3773">
          <p15:clr>
            <a:srgbClr val="FA7B17"/>
          </p15:clr>
        </p15:guide>
        <p15:guide id="3" pos="2004">
          <p15:clr>
            <a:srgbClr val="FA7B17"/>
          </p15:clr>
        </p15:guide>
        <p15:guide id="4" pos="3900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5 - Title and 2 columns">
  <p:cSld name="TITLE_AND_BODY_2_2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" type="body"/>
          </p:nvPr>
        </p:nvSpPr>
        <p:spPr>
          <a:xfrm flipH="1">
            <a:off x="571450" y="1442675"/>
            <a:ext cx="39267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2" type="body"/>
          </p:nvPr>
        </p:nvSpPr>
        <p:spPr>
          <a:xfrm flipH="1">
            <a:off x="4869300" y="1442675"/>
            <a:ext cx="39267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65" name="Google Shape;65;p12"/>
          <p:cNvSpPr txBox="1"/>
          <p:nvPr>
            <p:ph idx="3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6" name="Google Shape;66;p12"/>
          <p:cNvSpPr txBox="1"/>
          <p:nvPr>
            <p:ph type="title"/>
          </p:nvPr>
        </p:nvSpPr>
        <p:spPr>
          <a:xfrm>
            <a:off x="571450" y="4326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70">
          <p15:clr>
            <a:srgbClr val="FA7B17"/>
          </p15:clr>
        </p15:guide>
        <p15:guide id="2" pos="2834">
          <p15:clr>
            <a:srgbClr val="FA7B17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7 - Quote (long)">
  <p:cSld name="TITLE_AND_BODY_2_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idx="1" type="subTitle"/>
          </p:nvPr>
        </p:nvSpPr>
        <p:spPr>
          <a:xfrm>
            <a:off x="1675600" y="1002600"/>
            <a:ext cx="5793000" cy="2664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Roche Serif Light"/>
              <a:buNone/>
              <a:defRPr i="1" sz="30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2" type="subTitle"/>
          </p:nvPr>
        </p:nvSpPr>
        <p:spPr>
          <a:xfrm>
            <a:off x="1675600" y="3726225"/>
            <a:ext cx="5793000" cy="35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che Sans Light"/>
              <a:buNone/>
              <a:defRPr sz="14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054">
          <p15:clr>
            <a:srgbClr val="FA7B17"/>
          </p15:clr>
        </p15:guide>
        <p15:guide id="2" pos="4706">
          <p15:clr>
            <a:srgbClr val="FA7B17"/>
          </p15:clr>
        </p15:guide>
        <p15:guide id="3" orient="horz" pos="634">
          <p15:clr>
            <a:srgbClr val="FA7B17"/>
          </p15:clr>
        </p15:guide>
        <p15:guide id="4" orient="horz" pos="2310">
          <p15:clr>
            <a:srgbClr val="FA7B17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8 - Quote (short)">
  <p:cSld name="TITLE_AND_BODY_2_1_1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3826350" y="1442675"/>
            <a:ext cx="4974600" cy="2546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Roche Serif Light"/>
              <a:buNone/>
              <a:defRPr i="1" sz="20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idx="2" type="subTitle"/>
          </p:nvPr>
        </p:nvSpPr>
        <p:spPr>
          <a:xfrm>
            <a:off x="3826350" y="3989525"/>
            <a:ext cx="4974600" cy="297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che Sans Light"/>
              <a:buNone/>
              <a:defRPr sz="14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73" name="Google Shape;73;p14"/>
          <p:cNvSpPr/>
          <p:nvPr>
            <p:ph idx="3" type="pic"/>
          </p:nvPr>
        </p:nvSpPr>
        <p:spPr>
          <a:xfrm>
            <a:off x="0" y="1442675"/>
            <a:ext cx="3345600" cy="2844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2">
  <p:cSld name="TITLE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6" name="Google Shape;76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77" name="Google Shape;77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71450" y="432675"/>
            <a:ext cx="7717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71450" y="1442675"/>
            <a:ext cx="8229600" cy="3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0">
            <a:normAutofit/>
          </a:bodyPr>
          <a:lstStyle>
            <a:lvl1pPr indent="-311150" lvl="0" marL="4572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che Sans Light"/>
              <a:buChar char="■"/>
              <a:defRPr sz="1600"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indent="-317500" lvl="1" marL="91440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33D8"/>
              </a:buClr>
              <a:buSzPts val="1400"/>
              <a:buFont typeface="Roche Sans Light"/>
              <a:buChar char="○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che Sans Light"/>
              <a:buChar char="■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●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○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■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●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○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■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)]}'&#10;{&quot;branding&quot;:&quot;ROCHE_NEW&quot;,&quot;startSlideId&quot;:null,&quot;endSlideId&quot;:null,&quot;masterId&quot;:&quot;SLIDES_API916025361_8&quot;,&quot;theme&quot;:&quot;BLUE&quot;,&quot;defaultSlides&quot;:[&quot;SLIDES_API916025361_84&quot;,&quot;SLIDES_API916025361_164&quot;,&quot;SLIDES_API916025361_243&quot;,&quot;SLIDES_API916025361_320&quot;,&quot;SLIDES_API916025361_396&quot;,&quot;SLIDES_API916025361_474&quot;,&quot;SLIDES_API916025361_552&quot;,&quot;SLIDES_API916025361_629&quot;,&quot;SLIDES_API916025361_707&quot;,&quot;SLIDES_API916025361_782&quot;,&quot;SLIDES_API916025361_864&quot;,&quot;SLIDES_API916025361_944&quot;,&quot;SLIDES_API916025361_1023&quot;,&quot;SLIDES_API916025361_1104&quot;,&quot;SLIDES_API916025361_1184&quot;,&quot;SLIDES_API916025361_1263&quot;,&quot;SLIDES_API916025361_1346&quot;]}" id="9" name="Google Shape;9;p1"/>
          <p:cNvSpPr/>
          <p:nvPr/>
        </p:nvSpPr>
        <p:spPr>
          <a:xfrm>
            <a:off x="3632725" y="41200"/>
            <a:ext cx="192300" cy="1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8252350" y="4763490"/>
            <a:ext cx="5487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>
                <a:latin typeface="Roche Sans Light"/>
                <a:ea typeface="Roche Sans Light"/>
                <a:cs typeface="Roche Sans Light"/>
                <a:sym typeface="Roche Sans Light"/>
              </a:rPr>
              <a:t>‹#›</a:t>
            </a:fld>
            <a:endParaRPr sz="900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544">
          <p15:clr>
            <a:srgbClr val="EA4335"/>
          </p15:clr>
        </p15:guide>
        <p15:guide id="2" pos="360">
          <p15:clr>
            <a:srgbClr val="EA4335"/>
          </p15:clr>
        </p15:guide>
        <p15:guide id="3" orient="horz" pos="369">
          <p15:clr>
            <a:srgbClr val="EA4335"/>
          </p15:clr>
        </p15:guide>
        <p15:guide id="4" orient="horz" pos="909">
          <p15:clr>
            <a:srgbClr val="EA4335"/>
          </p15:clr>
        </p15:guide>
        <p15:guide id="5" pos="5221">
          <p15:clr>
            <a:srgbClr val="EA4335"/>
          </p15:clr>
        </p15:guide>
        <p15:guide id="6" orient="horz" pos="3076">
          <p15:clr>
            <a:srgbClr val="EA4335"/>
          </p15:clr>
        </p15:guide>
        <p15:guide id="7" orient="horz" pos="16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2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23.png"/><Relationship Id="rId5" Type="http://schemas.openxmlformats.org/officeDocument/2006/relationships/image" Target="../media/image2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Relationship Id="rId4" Type="http://schemas.openxmlformats.org/officeDocument/2006/relationships/image" Target="../media/image2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idx="2" type="subTitle"/>
          </p:nvPr>
        </p:nvSpPr>
        <p:spPr>
          <a:xfrm>
            <a:off x="571450" y="4444400"/>
            <a:ext cx="8229600" cy="5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Gordon Miller and Edoardo Mancini</a:t>
            </a:r>
            <a:endParaRPr sz="1600"/>
          </a:p>
        </p:txBody>
      </p:sp>
      <p:sp>
        <p:nvSpPr>
          <p:cNvPr id="83" name="Google Shape;83;p16"/>
          <p:cNvSpPr txBox="1"/>
          <p:nvPr>
            <p:ph idx="3" type="subTitle"/>
          </p:nvPr>
        </p:nvSpPr>
        <p:spPr>
          <a:xfrm>
            <a:off x="6016200" y="4846320"/>
            <a:ext cx="2784900" cy="1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17th November 2026 |  For public use</a:t>
            </a:r>
            <a:endParaRPr/>
          </a:p>
        </p:txBody>
      </p:sp>
      <p:sp>
        <p:nvSpPr>
          <p:cNvPr id="84" name="Google Shape;84;p16"/>
          <p:cNvSpPr txBox="1"/>
          <p:nvPr>
            <p:ph type="ctrTitle"/>
          </p:nvPr>
        </p:nvSpPr>
        <p:spPr>
          <a:xfrm>
            <a:off x="571450" y="660600"/>
            <a:ext cx="6976800" cy="13932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SM11 - Code that writes code that writes code?! Creating ADaMs in R with {admiralroche}</a:t>
            </a:r>
            <a:endParaRPr sz="2700"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1175" y="1956215"/>
            <a:ext cx="2036325" cy="2107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50050" y="122325"/>
            <a:ext cx="1814625" cy="89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Table of contents title" id="91" name="Google Shape;91;p17"/>
          <p:cNvSpPr txBox="1"/>
          <p:nvPr>
            <p:ph type="title"/>
          </p:nvPr>
        </p:nvSpPr>
        <p:spPr>
          <a:xfrm>
            <a:off x="571450" y="2150850"/>
            <a:ext cx="43044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descr="Table of contents box" id="92" name="Google Shape;92;p17"/>
          <p:cNvSpPr txBox="1"/>
          <p:nvPr>
            <p:ph idx="1" type="body"/>
          </p:nvPr>
        </p:nvSpPr>
        <p:spPr>
          <a:xfrm>
            <a:off x="4061500" y="586475"/>
            <a:ext cx="4739700" cy="393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Background:</a:t>
            </a:r>
            <a:r>
              <a:rPr lang="en"/>
              <a:t> Why {admiralroche}, and why ADaM Templates?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Stage 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1: </a:t>
            </a:r>
            <a:r>
              <a:rPr lang="en"/>
              <a:t> </a:t>
            </a:r>
            <a:r>
              <a:rPr lang="en"/>
              <a:t>Code - Initial intro to ADaM templates</a:t>
            </a:r>
            <a:endParaRPr/>
          </a:p>
          <a:p>
            <a:pPr indent="0" lvl="0" marL="9144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Stage 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2:</a:t>
            </a:r>
            <a:r>
              <a:rPr lang="en"/>
              <a:t> Code that writes code - “Abstracting away” our ADaM templates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Stage 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3:</a:t>
            </a:r>
            <a:r>
              <a:rPr lang="en"/>
              <a:t> Code that writes code that writes code - Creating dynamic ADaM templates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Conclusion:</a:t>
            </a:r>
            <a:r>
              <a:rPr lang="en"/>
              <a:t> Reflections, Further work, Recommendations</a:t>
            </a:r>
            <a:endParaRPr/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7050" y="71500"/>
            <a:ext cx="3029375" cy="103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98" name="Google Shape;98;p18"/>
          <p:cNvSpPr txBox="1"/>
          <p:nvPr>
            <p:ph type="title"/>
          </p:nvPr>
        </p:nvSpPr>
        <p:spPr>
          <a:xfrm>
            <a:off x="628200" y="2207450"/>
            <a:ext cx="39438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Background</a:t>
            </a:r>
            <a:endParaRPr/>
          </a:p>
        </p:txBody>
      </p:sp>
      <p:pic>
        <p:nvPicPr>
          <p:cNvPr id="99" name="Google Shape;9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8300" y="126225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242225" y="234175"/>
            <a:ext cx="7420500" cy="488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open source {admiral} framework makes it very easy to get simple ADaM template programs…</a:t>
            </a:r>
            <a:endParaRPr/>
          </a:p>
        </p:txBody>
      </p:sp>
      <p:sp>
        <p:nvSpPr>
          <p:cNvPr id="105" name="Google Shape;105;p19"/>
          <p:cNvSpPr txBox="1"/>
          <p:nvPr>
            <p:ph idx="2" type="body"/>
          </p:nvPr>
        </p:nvSpPr>
        <p:spPr>
          <a:xfrm>
            <a:off x="242225" y="1189100"/>
            <a:ext cx="5931600" cy="3614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console:</a:t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library(admiral)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admiral::use_ad_template(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“adsl”, 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package = “admiral”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/>
          </a:p>
        </p:txBody>
      </p:sp>
      <p:sp>
        <p:nvSpPr>
          <p:cNvPr id="106" name="Google Shape;106;p19"/>
          <p:cNvSpPr/>
          <p:nvPr/>
        </p:nvSpPr>
        <p:spPr>
          <a:xfrm>
            <a:off x="3741275" y="2324850"/>
            <a:ext cx="576000" cy="24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84A4A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107" name="Google Shape;10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3050" y="1189063"/>
            <a:ext cx="3872326" cy="3614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306825" y="227200"/>
            <a:ext cx="7696200" cy="501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…but are these templates really </a:t>
            </a:r>
            <a:r>
              <a:rPr i="1" lang="en"/>
              <a:t>that close</a:t>
            </a:r>
            <a:r>
              <a:rPr lang="en"/>
              <a:t> to Roche’s interpretation of the ADaM standards?</a:t>
            </a:r>
            <a:endParaRPr/>
          </a:p>
        </p:txBody>
      </p:sp>
      <p:sp>
        <p:nvSpPr>
          <p:cNvPr id="113" name="Google Shape;113;p20"/>
          <p:cNvSpPr txBox="1"/>
          <p:nvPr>
            <p:ph idx="2" type="body"/>
          </p:nvPr>
        </p:nvSpPr>
        <p:spPr>
          <a:xfrm>
            <a:off x="306825" y="1286575"/>
            <a:ext cx="8425200" cy="351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Short answer: </a:t>
            </a:r>
            <a:r>
              <a:rPr lang="en"/>
              <a:t>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/>
              <a:t>N</a:t>
            </a:r>
            <a:r>
              <a:rPr lang="en"/>
              <a:t>ot really - you should probably make your own templates.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Long answer: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/>
              <a:t>Any sponsor who implements ADaM (Roche included) makes choices in the areas where ADaM is flexible, e.g.: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Conventions to follow (imputation techniques, visit mapping, p</a:t>
            </a:r>
            <a:r>
              <a:rPr lang="en"/>
              <a:t>eriod assignment, etc.)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Sponsor-specific variables, parameters (custom age groups, population flags, etc.)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/>
              <a:t>Additionally each sponsor’s templates should include: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Custom helper code catered to interact smoothly with their chosen SCE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Hand-picked code to interact with dataset specs (perhaps using other pharmaverse packages such as metatools, metacore xportr...)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So, we set up the {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admiralroche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} package to provide ADaM templates that are as close as possible to the datasets that we routinely create at Roche.</a:t>
            </a:r>
            <a:endParaRPr b="1">
              <a:solidFill>
                <a:schemeClr val="dk1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type="title"/>
          </p:nvPr>
        </p:nvSpPr>
        <p:spPr>
          <a:xfrm>
            <a:off x="226100" y="227200"/>
            <a:ext cx="7286400" cy="501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we can provide our own custom Roche ADaM templates!</a:t>
            </a:r>
            <a:endParaRPr/>
          </a:p>
        </p:txBody>
      </p:sp>
      <p:sp>
        <p:nvSpPr>
          <p:cNvPr id="119" name="Google Shape;119;p21"/>
          <p:cNvSpPr txBox="1"/>
          <p:nvPr>
            <p:ph idx="2" type="body"/>
          </p:nvPr>
        </p:nvSpPr>
        <p:spPr>
          <a:xfrm>
            <a:off x="226100" y="1442675"/>
            <a:ext cx="4178100" cy="336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In console:</a:t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library(admiral)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highlight>
                  <a:srgbClr val="FFFF00"/>
                </a:highlight>
                <a:latin typeface="Roboto Mono"/>
                <a:ea typeface="Roboto Mono"/>
                <a:cs typeface="Roboto Mono"/>
                <a:sym typeface="Roboto Mono"/>
              </a:rPr>
              <a:t>library(admiralroche)</a:t>
            </a:r>
            <a:endParaRPr>
              <a:solidFill>
                <a:srgbClr val="188038"/>
              </a:solidFill>
              <a:highlight>
                <a:srgbClr val="FFFF00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admiral::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use_ad_template(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“adsl”, 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>
                <a:solidFill>
                  <a:srgbClr val="188038"/>
                </a:solidFill>
                <a:highlight>
                  <a:srgbClr val="FFFF00"/>
                </a:highlight>
                <a:latin typeface="Roboto Mono"/>
                <a:ea typeface="Roboto Mono"/>
                <a:cs typeface="Roboto Mono"/>
                <a:sym typeface="Roboto Mono"/>
              </a:rPr>
              <a:t>package = “admiralroche”</a:t>
            </a:r>
            <a:endParaRPr>
              <a:solidFill>
                <a:srgbClr val="188038"/>
              </a:solidFill>
              <a:highlight>
                <a:srgbClr val="FFFF00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Note that {admiralroche} provides both the ADaM templates themselves and some R functions to derive  </a:t>
            </a:r>
            <a:r>
              <a:rPr lang="en"/>
              <a:t>Roche-specific variables in ADaM datasets.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30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20" name="Google Shape;120;p21"/>
          <p:cNvPicPr preferRelativeResize="0"/>
          <p:nvPr/>
        </p:nvPicPr>
        <p:blipFill rotWithShape="1">
          <a:blip r:embed="rId3">
            <a:alphaModFix/>
          </a:blip>
          <a:srcRect b="0" l="0" r="2325" t="0"/>
          <a:stretch/>
        </p:blipFill>
        <p:spPr>
          <a:xfrm>
            <a:off x="4726150" y="1242925"/>
            <a:ext cx="3727924" cy="375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1"/>
          <p:cNvSpPr/>
          <p:nvPr/>
        </p:nvSpPr>
        <p:spPr>
          <a:xfrm>
            <a:off x="3769150" y="2999525"/>
            <a:ext cx="576000" cy="24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242425" y="432675"/>
            <a:ext cx="77607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(portions of) an {admiralroche} template</a:t>
            </a:r>
            <a:endParaRPr/>
          </a:p>
        </p:txBody>
      </p:sp>
      <p:pic>
        <p:nvPicPr>
          <p:cNvPr id="127" name="Google Shape;12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426" y="1054775"/>
            <a:ext cx="4096647" cy="314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2"/>
          <p:cNvPicPr preferRelativeResize="0"/>
          <p:nvPr/>
        </p:nvPicPr>
        <p:blipFill rotWithShape="1">
          <a:blip r:embed="rId4">
            <a:alphaModFix/>
          </a:blip>
          <a:srcRect b="0" l="0" r="5696" t="0"/>
          <a:stretch/>
        </p:blipFill>
        <p:spPr>
          <a:xfrm>
            <a:off x="242426" y="4469422"/>
            <a:ext cx="4096649" cy="41347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2"/>
          <p:cNvSpPr txBox="1"/>
          <p:nvPr/>
        </p:nvSpPr>
        <p:spPr>
          <a:xfrm>
            <a:off x="258019" y="4054444"/>
            <a:ext cx="9510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che Sans Light"/>
                <a:ea typeface="Roche Sans Light"/>
                <a:cs typeface="Roche Sans Light"/>
                <a:sym typeface="Roche Sans Light"/>
              </a:rPr>
              <a:t>…</a:t>
            </a:r>
            <a:endParaRPr sz="1600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0" name="Google Shape;130;p22"/>
          <p:cNvSpPr/>
          <p:nvPr/>
        </p:nvSpPr>
        <p:spPr>
          <a:xfrm>
            <a:off x="258026" y="1054775"/>
            <a:ext cx="4508100" cy="8874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4A86E8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1" name="Google Shape;131;p22"/>
          <p:cNvSpPr/>
          <p:nvPr/>
        </p:nvSpPr>
        <p:spPr>
          <a:xfrm>
            <a:off x="258026" y="2432475"/>
            <a:ext cx="4508100" cy="6801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004561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2" name="Google Shape;132;p22"/>
          <p:cNvSpPr/>
          <p:nvPr/>
        </p:nvSpPr>
        <p:spPr>
          <a:xfrm>
            <a:off x="258026" y="3204000"/>
            <a:ext cx="4508100" cy="9981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E84A4A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3" name="Google Shape;133;p22"/>
          <p:cNvSpPr/>
          <p:nvPr/>
        </p:nvSpPr>
        <p:spPr>
          <a:xfrm>
            <a:off x="242426" y="4442650"/>
            <a:ext cx="4508100" cy="4404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4A86E8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4" name="Google Shape;134;p22"/>
          <p:cNvSpPr txBox="1"/>
          <p:nvPr>
            <p:ph idx="2" type="body"/>
          </p:nvPr>
        </p:nvSpPr>
        <p:spPr>
          <a:xfrm>
            <a:off x="4900026" y="1256400"/>
            <a:ext cx="3700500" cy="80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Code to pull data cut date from Roche-specific metadata file</a:t>
            </a:r>
            <a:endParaRPr/>
          </a:p>
        </p:txBody>
      </p:sp>
      <p:sp>
        <p:nvSpPr>
          <p:cNvPr id="135" name="Google Shape;135;p22"/>
          <p:cNvSpPr txBox="1"/>
          <p:nvPr>
            <p:ph idx="2" type="body"/>
          </p:nvPr>
        </p:nvSpPr>
        <p:spPr>
          <a:xfrm>
            <a:off x="4900026" y="2656700"/>
            <a:ext cx="3700500" cy="323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Study-specific code to derive treatment arms (expect user to edit this)</a:t>
            </a:r>
            <a:endParaRPr/>
          </a:p>
        </p:txBody>
      </p:sp>
      <p:sp>
        <p:nvSpPr>
          <p:cNvPr id="136" name="Google Shape;136;p22"/>
          <p:cNvSpPr txBox="1"/>
          <p:nvPr>
            <p:ph idx="2" type="body"/>
          </p:nvPr>
        </p:nvSpPr>
        <p:spPr>
          <a:xfrm>
            <a:off x="4900026" y="3486650"/>
            <a:ext cx="3700500" cy="323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Standard {admiral} </a:t>
            </a:r>
            <a:r>
              <a:rPr lang="en"/>
              <a:t>function (possibly still using Roche-specific choice or arguments)</a:t>
            </a:r>
            <a:endParaRPr/>
          </a:p>
        </p:txBody>
      </p:sp>
      <p:sp>
        <p:nvSpPr>
          <p:cNvPr id="137" name="Google Shape;137;p22"/>
          <p:cNvSpPr txBox="1"/>
          <p:nvPr>
            <p:ph idx="2" type="body"/>
          </p:nvPr>
        </p:nvSpPr>
        <p:spPr>
          <a:xfrm>
            <a:off x="4900026" y="4442638"/>
            <a:ext cx="3700500" cy="323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Custom {admiralroche} functions to derive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AGEGR1</a:t>
            </a:r>
            <a:r>
              <a:rPr lang="en"/>
              <a:t> and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AGEGR2</a:t>
            </a:r>
            <a:r>
              <a:rPr lang="en"/>
              <a:t> as per Roche standards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142" name="Google Shape;142;p23"/>
          <p:cNvSpPr txBox="1"/>
          <p:nvPr>
            <p:ph type="title"/>
          </p:nvPr>
        </p:nvSpPr>
        <p:spPr>
          <a:xfrm>
            <a:off x="628200" y="2207450"/>
            <a:ext cx="33000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1: Code</a:t>
            </a:r>
            <a:endParaRPr/>
          </a:p>
        </p:txBody>
      </p:sp>
      <p:pic>
        <p:nvPicPr>
          <p:cNvPr id="143" name="Google Shape;143;p23"/>
          <p:cNvPicPr preferRelativeResize="0"/>
          <p:nvPr/>
        </p:nvPicPr>
        <p:blipFill rotWithShape="1">
          <a:blip r:embed="rId3">
            <a:alphaModFix/>
          </a:blip>
          <a:srcRect b="34163" l="0" r="50000" t="0"/>
          <a:stretch/>
        </p:blipFill>
        <p:spPr>
          <a:xfrm>
            <a:off x="5280025" y="1824200"/>
            <a:ext cx="2914276" cy="2094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875" y="80425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24" title="duplication_risks.png"/>
          <p:cNvPicPr preferRelativeResize="0"/>
          <p:nvPr/>
        </p:nvPicPr>
        <p:blipFill rotWithShape="1">
          <a:blip r:embed="rId3">
            <a:alphaModFix/>
          </a:blip>
          <a:srcRect b="50561" l="0" r="0" t="0"/>
          <a:stretch/>
        </p:blipFill>
        <p:spPr>
          <a:xfrm>
            <a:off x="3931650" y="3593351"/>
            <a:ext cx="3544800" cy="146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4" title="user_updat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08400" y="1006434"/>
            <a:ext cx="5056375" cy="252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4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{admiralroche}’s initial (static) ADaM templates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4"/>
          <p:cNvSpPr txBox="1"/>
          <p:nvPr>
            <p:ph idx="2" type="body"/>
          </p:nvPr>
        </p:nvSpPr>
        <p:spPr>
          <a:xfrm>
            <a:off x="282600" y="1068500"/>
            <a:ext cx="3544800" cy="308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Throughout its first releases, {admiralroche} provided static ADaM templates, accessible through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use_ad_template(package = “admiralroche”)</a:t>
            </a:r>
            <a:r>
              <a:rPr lang="en"/>
              <a:t> matching the specifications of the datasets in our Roche standards (ADSL, ADAE, ADVS, etc.)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400" u="sng"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Pros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Simple to maintain for devs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Simple for users to access and use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Easiest way to initially set up {admiralroche}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Cons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Difficult to cater for many different options, especially if complex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Duplication of code for sections common to all templates</a:t>
            </a:r>
            <a:endParaRPr/>
          </a:p>
        </p:txBody>
      </p:sp>
      <p:sp>
        <p:nvSpPr>
          <p:cNvPr id="153" name="Google Shape;153;p24"/>
          <p:cNvSpPr/>
          <p:nvPr/>
        </p:nvSpPr>
        <p:spPr>
          <a:xfrm rot="9085455">
            <a:off x="6285506" y="3866589"/>
            <a:ext cx="711239" cy="2687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54" name="Google Shape;154;p24"/>
          <p:cNvSpPr txBox="1"/>
          <p:nvPr/>
        </p:nvSpPr>
        <p:spPr>
          <a:xfrm>
            <a:off x="7018740" y="3427425"/>
            <a:ext cx="1541400" cy="6618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An update to this function would require </a:t>
            </a: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updating</a:t>
            </a: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 every template</a:t>
            </a:r>
            <a:endParaRPr sz="1000"/>
          </a:p>
        </p:txBody>
      </p:sp>
      <p:sp>
        <p:nvSpPr>
          <p:cNvPr id="155" name="Google Shape;155;p24"/>
          <p:cNvSpPr/>
          <p:nvPr/>
        </p:nvSpPr>
        <p:spPr>
          <a:xfrm rot="-8583878">
            <a:off x="7356829" y="1550948"/>
            <a:ext cx="577620" cy="246781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7950750" y="1805963"/>
            <a:ext cx="1201800" cy="9852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Users required to update green portions if not using most common option</a:t>
            </a:r>
            <a:endParaRPr sz="1000"/>
          </a:p>
        </p:txBody>
      </p:sp>
      <p:sp>
        <p:nvSpPr>
          <p:cNvPr id="157" name="Google Shape;157;p24"/>
          <p:cNvSpPr/>
          <p:nvPr/>
        </p:nvSpPr>
        <p:spPr>
          <a:xfrm rot="10796952">
            <a:off x="7476450" y="2174824"/>
            <a:ext cx="338400" cy="247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5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where are we at so far?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63" name="Google Shape;163;p25"/>
          <p:cNvGraphicFramePr/>
          <p:nvPr/>
        </p:nvGraphicFramePr>
        <p:xfrm>
          <a:off x="571450" y="12884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{ECED062A-D991-45DC-B9B7-9121D6024991}</a:tableStyleId>
              </a:tblPr>
              <a:tblGrid>
                <a:gridCol w="1894625"/>
                <a:gridCol w="6194175"/>
              </a:tblGrid>
              <a:tr h="373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How is a typical template (e.g. ADSL) generated and served to the user?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1: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Static 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program is directly provided by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64" name="Google Shape;164;p25"/>
          <p:cNvPicPr preferRelativeResize="0"/>
          <p:nvPr/>
        </p:nvPicPr>
        <p:blipFill rotWithShape="1">
          <a:blip r:embed="rId3">
            <a:alphaModFix/>
          </a:blip>
          <a:srcRect b="34163" l="0" r="50000" t="0"/>
          <a:stretch/>
        </p:blipFill>
        <p:spPr>
          <a:xfrm>
            <a:off x="3114525" y="2358501"/>
            <a:ext cx="2914949" cy="20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169" name="Google Shape;169;p26"/>
          <p:cNvSpPr txBox="1"/>
          <p:nvPr>
            <p:ph type="title"/>
          </p:nvPr>
        </p:nvSpPr>
        <p:spPr>
          <a:xfrm>
            <a:off x="628200" y="2207450"/>
            <a:ext cx="33000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2: Code that writes code?!</a:t>
            </a:r>
            <a:endParaRPr/>
          </a:p>
        </p:txBody>
      </p:sp>
      <p:pic>
        <p:nvPicPr>
          <p:cNvPr id="170" name="Google Shape;170;p26"/>
          <p:cNvPicPr preferRelativeResize="0"/>
          <p:nvPr/>
        </p:nvPicPr>
        <p:blipFill rotWithShape="1">
          <a:blip r:embed="rId3">
            <a:alphaModFix/>
          </a:blip>
          <a:srcRect b="49930" l="50293" r="0" t="0"/>
          <a:stretch/>
        </p:blipFill>
        <p:spPr>
          <a:xfrm>
            <a:off x="4964825" y="1862000"/>
            <a:ext cx="3546826" cy="195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4075" y="106600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>
            <p:ph type="title"/>
          </p:nvPr>
        </p:nvSpPr>
        <p:spPr>
          <a:xfrm>
            <a:off x="300961" y="432675"/>
            <a:ext cx="81231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Abstracting away common chunks of the templates (1/3)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7"/>
          <p:cNvSpPr txBox="1"/>
          <p:nvPr>
            <p:ph idx="2" type="body"/>
          </p:nvPr>
        </p:nvSpPr>
        <p:spPr>
          <a:xfrm>
            <a:off x="282600" y="1068500"/>
            <a:ext cx="8518500" cy="145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😤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Issue:</a:t>
            </a:r>
            <a:r>
              <a:rPr lang="en"/>
              <a:t> After a while, {admiralroche} contained &gt;20 ADaM templates, with many common or similar sections. Updating one of those meant </a:t>
            </a:r>
            <a:r>
              <a:rPr lang="en"/>
              <a:t>potentially</a:t>
            </a:r>
            <a:r>
              <a:rPr lang="en"/>
              <a:t> having to identically edit </a:t>
            </a:r>
            <a:r>
              <a:rPr lang="en"/>
              <a:t>20 files.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/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3037" y="1603875"/>
            <a:ext cx="2205352" cy="339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03387" y="1599076"/>
            <a:ext cx="2246400" cy="339897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7"/>
          <p:cNvSpPr txBox="1"/>
          <p:nvPr/>
        </p:nvSpPr>
        <p:spPr>
          <a:xfrm>
            <a:off x="218025" y="1729150"/>
            <a:ext cx="3367200" cy="29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Eg: 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ADCM and ADMH templates contain almost identical sequence of 5 {admiral} code blocks to set up analysis dates, with some key differences. 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200"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For just the </a:t>
            </a:r>
            <a:r>
              <a:rPr lang="en">
                <a:solidFill>
                  <a:srgbClr val="4A86E8"/>
                </a:solidFill>
                <a:latin typeface="Roche Sans Light"/>
                <a:ea typeface="Roche Sans Light"/>
                <a:cs typeface="Roche Sans Light"/>
                <a:sym typeface="Roche Sans Light"/>
              </a:rPr>
              <a:t>blue AENDTM block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, we see: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che Sans Light"/>
              <a:buChar char="■"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Different source variable names (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CMENDTC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 vs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MHENDTC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)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-3048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che Sans Light"/>
              <a:buChar char="■"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Different time imputation (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“first”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 vs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“last”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)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3763074" y="3290675"/>
            <a:ext cx="2205300" cy="9849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6223937" y="3270425"/>
            <a:ext cx="2205300" cy="10254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929400" y="3488225"/>
            <a:ext cx="608400" cy="1023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4" name="Google Shape;184;p27"/>
          <p:cNvSpPr/>
          <p:nvPr/>
        </p:nvSpPr>
        <p:spPr>
          <a:xfrm>
            <a:off x="6383050" y="3488225"/>
            <a:ext cx="608400" cy="1023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3933175" y="3867725"/>
            <a:ext cx="1000500" cy="1023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6383050" y="3923225"/>
            <a:ext cx="1061700" cy="1023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339175" y="4077650"/>
            <a:ext cx="3367200" cy="920400"/>
          </a:xfrm>
          <a:prstGeom prst="cloudCallout">
            <a:avLst>
              <a:gd fmla="val -54393" name="adj1"/>
              <a:gd fmla="val 57385" name="adj2"/>
            </a:avLst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🤔</a:t>
            </a:r>
            <a:r>
              <a:rPr b="1" lang="en">
                <a:solidFill>
                  <a:srgbClr val="0B41CD"/>
                </a:solidFill>
                <a:latin typeface="Roche Sans"/>
                <a:ea typeface="Roche Sans"/>
                <a:cs typeface="Roche Sans"/>
                <a:sym typeface="Roche Sans"/>
              </a:rPr>
              <a:t>Can we do better than just duplicating this code?</a:t>
            </a:r>
            <a:r>
              <a:rPr lang="en" sz="1100"/>
              <a:t>  </a:t>
            </a: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🤔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/>
          <p:cNvSpPr txBox="1"/>
          <p:nvPr>
            <p:ph type="title"/>
          </p:nvPr>
        </p:nvSpPr>
        <p:spPr>
          <a:xfrm>
            <a:off x="286575" y="432675"/>
            <a:ext cx="8143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Abstracting away common chunks of the templates (</a:t>
            </a:r>
            <a:r>
              <a:rPr lang="en" sz="2100"/>
              <a:t>2/3</a:t>
            </a:r>
            <a:r>
              <a:rPr lang="en" sz="2100"/>
              <a:t>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28"/>
          <p:cNvSpPr txBox="1"/>
          <p:nvPr>
            <p:ph idx="2" type="body"/>
          </p:nvPr>
        </p:nvSpPr>
        <p:spPr>
          <a:xfrm>
            <a:off x="282600" y="1068500"/>
            <a:ext cx="6718200" cy="116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💡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Solution:</a:t>
            </a:r>
            <a:r>
              <a:rPr lang="en"/>
              <a:t> What if we abstracted away the common sections, to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dynamically build and maintain ADaM templates</a:t>
            </a:r>
            <a:r>
              <a:rPr lang="en"/>
              <a:t> using a combination of common and dataset-specific chunks? 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/>
          </a:p>
        </p:txBody>
      </p:sp>
      <p:pic>
        <p:nvPicPr>
          <p:cNvPr id="194" name="Google Shape;19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96125" y="963113"/>
            <a:ext cx="1188524" cy="137665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8"/>
          <p:cNvSpPr txBox="1"/>
          <p:nvPr/>
        </p:nvSpPr>
        <p:spPr>
          <a:xfrm>
            <a:off x="282600" y="1606900"/>
            <a:ext cx="5854200" cy="6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….enter the {scriptr} package! </a:t>
            </a:r>
            <a:r>
              <a:rPr i="1" lang="en">
                <a:latin typeface="Roche Sans Light"/>
                <a:ea typeface="Roche Sans Light"/>
                <a:cs typeface="Roche Sans Light"/>
                <a:sym typeface="Roche Sans Light"/>
              </a:rPr>
              <a:t>{scriptr} is an internal Roche package built to store code in a central place and use it to generate scripts.</a:t>
            </a:r>
            <a:endParaRPr i="1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196" name="Google Shape;19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950" y="3350952"/>
            <a:ext cx="4105925" cy="161642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8"/>
          <p:cNvSpPr txBox="1"/>
          <p:nvPr/>
        </p:nvSpPr>
        <p:spPr>
          <a:xfrm>
            <a:off x="294650" y="2625975"/>
            <a:ext cx="4130400" cy="6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W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e can abstract away 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each 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block (</a:t>
            </a:r>
            <a:r>
              <a:rPr lang="en">
                <a:solidFill>
                  <a:srgbClr val="4A86E8"/>
                </a:solidFill>
                <a:latin typeface="Roche Sans Light"/>
                <a:ea typeface="Roche Sans Light"/>
                <a:cs typeface="Roche Sans Light"/>
                <a:sym typeface="Roche Sans Light"/>
              </a:rPr>
              <a:t>e.g. the blue AENDTM block from before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) using {scriptr}...</a:t>
            </a:r>
            <a:endParaRPr/>
          </a:p>
        </p:txBody>
      </p:sp>
      <p:sp>
        <p:nvSpPr>
          <p:cNvPr id="198" name="Google Shape;198;p28"/>
          <p:cNvSpPr txBox="1"/>
          <p:nvPr/>
        </p:nvSpPr>
        <p:spPr>
          <a:xfrm>
            <a:off x="4572000" y="2488625"/>
            <a:ext cx="4464600" cy="8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…a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nd then use the abstracted chunks to construct the ACDM/ADMH templates. The call below constructs the 5 ADMH blocks from the previous slide.</a:t>
            </a:r>
            <a:endParaRPr/>
          </a:p>
        </p:txBody>
      </p:sp>
      <p:sp>
        <p:nvSpPr>
          <p:cNvPr id="199" name="Google Shape;199;p28"/>
          <p:cNvSpPr/>
          <p:nvPr/>
        </p:nvSpPr>
        <p:spPr>
          <a:xfrm>
            <a:off x="306950" y="3350949"/>
            <a:ext cx="4105800" cy="16164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200" name="Google Shape;200;p28"/>
          <p:cNvPicPr preferRelativeResize="0"/>
          <p:nvPr/>
        </p:nvPicPr>
        <p:blipFill rotWithShape="1">
          <a:blip r:embed="rId5">
            <a:alphaModFix/>
          </a:blip>
          <a:srcRect b="0" l="0" r="1156" t="10698"/>
          <a:stretch/>
        </p:blipFill>
        <p:spPr>
          <a:xfrm>
            <a:off x="4906150" y="3293938"/>
            <a:ext cx="3208775" cy="171246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8"/>
          <p:cNvSpPr/>
          <p:nvPr/>
        </p:nvSpPr>
        <p:spPr>
          <a:xfrm>
            <a:off x="5095050" y="3795050"/>
            <a:ext cx="3020100" cy="1614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2" name="Google Shape;202;p28"/>
          <p:cNvSpPr/>
          <p:nvPr/>
        </p:nvSpPr>
        <p:spPr>
          <a:xfrm rot="-862852">
            <a:off x="4255052" y="3851647"/>
            <a:ext cx="810496" cy="192817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492550" y="4336050"/>
            <a:ext cx="1865100" cy="1614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4" name="Google Shape;204;p28"/>
          <p:cNvSpPr txBox="1"/>
          <p:nvPr/>
        </p:nvSpPr>
        <p:spPr>
          <a:xfrm>
            <a:off x="194798" y="2317400"/>
            <a:ext cx="25194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Example: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205" name="Google Shape;205;p28"/>
          <p:cNvSpPr/>
          <p:nvPr/>
        </p:nvSpPr>
        <p:spPr>
          <a:xfrm>
            <a:off x="521950" y="3831291"/>
            <a:ext cx="2364000" cy="1614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6" name="Google Shape;206;p28"/>
          <p:cNvSpPr/>
          <p:nvPr/>
        </p:nvSpPr>
        <p:spPr>
          <a:xfrm>
            <a:off x="6061900" y="3819350"/>
            <a:ext cx="631800" cy="885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7" name="Google Shape;207;p28"/>
          <p:cNvSpPr/>
          <p:nvPr/>
        </p:nvSpPr>
        <p:spPr>
          <a:xfrm>
            <a:off x="6805200" y="3795050"/>
            <a:ext cx="1188600" cy="1128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9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Abstracting away common chunks of the templates (3/3)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9"/>
          <p:cNvSpPr txBox="1"/>
          <p:nvPr>
            <p:ph idx="2" type="body"/>
          </p:nvPr>
        </p:nvSpPr>
        <p:spPr>
          <a:xfrm>
            <a:off x="282600" y="1068500"/>
            <a:ext cx="8445900" cy="2217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In summary: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{admiralroche} was refactored internally to create a “library” of generic code chunks (powered by {scriptr} that were used to construct our ~20 ADaM template scripts </a:t>
            </a:r>
            <a:r>
              <a:rPr i="1" lang="en"/>
              <a:t>(code that writes code!)</a:t>
            </a:r>
            <a:endParaRPr i="1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Now, any update to an {admiral}/{admiralroche} function requires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updating each chunk rather than each template</a:t>
            </a:r>
            <a:r>
              <a:rPr lang="en"/>
              <a:t>.</a:t>
            </a:r>
            <a:r>
              <a:rPr lang="en"/>
              <a:t> The chunks also ensure </a:t>
            </a:r>
            <a:r>
              <a:rPr lang="en"/>
              <a:t>consistency</a:t>
            </a:r>
            <a:r>
              <a:rPr lang="en"/>
              <a:t> across datasets (same derivation in two datasets → same chunk used → identical code generated)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Importantly, this had no impact to our users, who could still access the templates using: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use_ad_template(“&lt;adam_name&gt;”, package = “admiralroche”)</a:t>
            </a:r>
            <a:endParaRPr/>
          </a:p>
        </p:txBody>
      </p:sp>
      <p:sp>
        <p:nvSpPr>
          <p:cNvPr id="214" name="Google Shape;214;p29"/>
          <p:cNvSpPr/>
          <p:nvPr/>
        </p:nvSpPr>
        <p:spPr>
          <a:xfrm>
            <a:off x="806350" y="3086625"/>
            <a:ext cx="7816200" cy="1848900"/>
          </a:xfrm>
          <a:prstGeom prst="cloudCallout">
            <a:avLst>
              <a:gd fmla="val -54393" name="adj1"/>
              <a:gd fmla="val 57385" name="adj2"/>
            </a:avLst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🤔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But why stop here?🤔</a:t>
            </a:r>
            <a:endParaRPr b="1">
              <a:solidFill>
                <a:schemeClr val="dk1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Now that we had this library of code chunks,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why not just ask our users which chunks they want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 (i.e. which standards they are following) to build them a template which is closer to their end goal?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0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where are we at so far?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20" name="Google Shape;220;p30"/>
          <p:cNvGraphicFramePr/>
          <p:nvPr/>
        </p:nvGraphicFramePr>
        <p:xfrm>
          <a:off x="477700" y="110568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{ECED062A-D991-45DC-B9B7-9121D6024991}</a:tableStyleId>
              </a:tblPr>
              <a:tblGrid>
                <a:gridCol w="1958075"/>
                <a:gridCol w="6401625"/>
              </a:tblGrid>
              <a:tr h="373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How is a typical template (e.g. ADSL) generated and served to the user?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1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programs provided by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2: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 that writes 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Internal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 create_ad_adsl.R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script combines generic chunks to construct 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- still provided to users 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through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221" name="Google Shape;221;p30"/>
          <p:cNvPicPr preferRelativeResize="0"/>
          <p:nvPr/>
        </p:nvPicPr>
        <p:blipFill rotWithShape="1">
          <a:blip r:embed="rId3">
            <a:alphaModFix/>
          </a:blip>
          <a:srcRect b="49930" l="50293" r="0" t="0"/>
          <a:stretch/>
        </p:blipFill>
        <p:spPr>
          <a:xfrm>
            <a:off x="2667900" y="2740475"/>
            <a:ext cx="3829524" cy="210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226" name="Google Shape;226;p31"/>
          <p:cNvSpPr txBox="1"/>
          <p:nvPr>
            <p:ph type="title"/>
          </p:nvPr>
        </p:nvSpPr>
        <p:spPr>
          <a:xfrm>
            <a:off x="628200" y="2207450"/>
            <a:ext cx="33000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3: Code that writes code that writes code!</a:t>
            </a:r>
            <a:endParaRPr/>
          </a:p>
        </p:txBody>
      </p:sp>
      <p:pic>
        <p:nvPicPr>
          <p:cNvPr id="227" name="Google Shape;227;p31"/>
          <p:cNvPicPr preferRelativeResize="0"/>
          <p:nvPr/>
        </p:nvPicPr>
        <p:blipFill rotWithShape="1">
          <a:blip r:embed="rId3">
            <a:alphaModFix/>
          </a:blip>
          <a:srcRect b="0" l="50157" r="0" t="52050"/>
          <a:stretch/>
        </p:blipFill>
        <p:spPr>
          <a:xfrm>
            <a:off x="4572000" y="1815425"/>
            <a:ext cx="3485276" cy="1830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7150" y="93475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2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“dynamic” ADaM templates (</a:t>
            </a:r>
            <a:r>
              <a:rPr lang="en"/>
              <a:t>1/2</a:t>
            </a:r>
            <a:r>
              <a:rPr lang="en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2"/>
          <p:cNvSpPr txBox="1"/>
          <p:nvPr>
            <p:ph idx="2" type="body"/>
          </p:nvPr>
        </p:nvSpPr>
        <p:spPr>
          <a:xfrm>
            <a:off x="282600" y="1068500"/>
            <a:ext cx="3980700" cy="4002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🆕</a:t>
            </a:r>
            <a:r>
              <a:rPr lang="en"/>
              <a:t>In the latest {admiralroche} releases, we: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200"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Expanded our “library of chunks” </a:t>
            </a:r>
            <a:r>
              <a:rPr lang="en"/>
              <a:t>to create options and/or variants for all possible choices mentioned in our global standards - not just the most popular ones!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600"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Created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dynamic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use_&lt;adam&gt;_template()</a:t>
            </a:r>
            <a:r>
              <a:rPr lang="en"/>
              <a:t> functions which identify user preferences through the CLI and then pick the right chunks to use to </a:t>
            </a:r>
            <a:r>
              <a:rPr lang="en"/>
              <a:t>construct</a:t>
            </a:r>
            <a:r>
              <a:rPr lang="en"/>
              <a:t> their ADaM templates </a:t>
            </a:r>
            <a:r>
              <a:rPr i="1" lang="en"/>
              <a:t>(code that writes code that writes code!)</a:t>
            </a:r>
            <a:endParaRPr i="1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Users can also feed in their specifications so that the function may attempt to identify a choice by default (by scanning the derivation text and looking for keywords).</a:t>
            </a:r>
            <a:endParaRPr/>
          </a:p>
        </p:txBody>
      </p:sp>
      <p:pic>
        <p:nvPicPr>
          <p:cNvPr id="235" name="Google Shape;235;p32"/>
          <p:cNvPicPr preferRelativeResize="0"/>
          <p:nvPr/>
        </p:nvPicPr>
        <p:blipFill rotWithShape="1">
          <a:blip r:embed="rId3">
            <a:alphaModFix/>
          </a:blip>
          <a:srcRect b="59013" l="0" r="3800" t="0"/>
          <a:stretch/>
        </p:blipFill>
        <p:spPr>
          <a:xfrm>
            <a:off x="4644300" y="966675"/>
            <a:ext cx="4065150" cy="17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4300" y="2608075"/>
            <a:ext cx="4065149" cy="169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2"/>
          <p:cNvSpPr txBox="1"/>
          <p:nvPr/>
        </p:nvSpPr>
        <p:spPr>
          <a:xfrm>
            <a:off x="4605004" y="2475671"/>
            <a:ext cx="969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che Sans Light"/>
                <a:ea typeface="Roche Sans Light"/>
                <a:cs typeface="Roche Sans Light"/>
                <a:sym typeface="Roche Sans Light"/>
              </a:rPr>
              <a:t>&lt;...&gt;</a:t>
            </a:r>
            <a:endParaRPr sz="1600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238" name="Google Shape;238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4300" y="2784600"/>
            <a:ext cx="4065149" cy="22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2"/>
          <p:cNvSpPr/>
          <p:nvPr/>
        </p:nvSpPr>
        <p:spPr>
          <a:xfrm rot="-10049095">
            <a:off x="6816181" y="2400496"/>
            <a:ext cx="951099" cy="187559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78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250" lIns="75250" spcFirstLastPara="1" rIns="75250" wrap="square" tIns="7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2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40" name="Google Shape;240;p32"/>
          <p:cNvSpPr txBox="1"/>
          <p:nvPr/>
        </p:nvSpPr>
        <p:spPr>
          <a:xfrm>
            <a:off x="7860574" y="2429525"/>
            <a:ext cx="1118400" cy="2787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75250" lIns="75250" spcFirstLastPara="1" rIns="75250" wrap="square" tIns="75250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329"/>
              </a:spcBef>
              <a:spcAft>
                <a:spcPts val="247"/>
              </a:spcAft>
              <a:buNone/>
            </a:pPr>
            <a:r>
              <a:rPr lang="en" sz="823">
                <a:latin typeface="Roche Sans Light"/>
                <a:ea typeface="Roche Sans Light"/>
                <a:cs typeface="Roche Sans Light"/>
                <a:sym typeface="Roche Sans Light"/>
              </a:rPr>
              <a:t>Defaults from specs</a:t>
            </a:r>
            <a:endParaRPr sz="823"/>
          </a:p>
        </p:txBody>
      </p:sp>
      <p:sp>
        <p:nvSpPr>
          <p:cNvPr id="241" name="Google Shape;241;p32"/>
          <p:cNvSpPr txBox="1"/>
          <p:nvPr/>
        </p:nvSpPr>
        <p:spPr>
          <a:xfrm>
            <a:off x="7471800" y="4139025"/>
            <a:ext cx="1329300" cy="4116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75250" lIns="75250" spcFirstLastPara="1" rIns="75250" wrap="square" tIns="75250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329"/>
              </a:spcBef>
              <a:spcAft>
                <a:spcPts val="247"/>
              </a:spcAft>
              <a:buNone/>
            </a:pPr>
            <a:r>
              <a:rPr lang="en" sz="823">
                <a:latin typeface="Roche Sans Light"/>
                <a:ea typeface="Roche Sans Light"/>
                <a:cs typeface="Roche Sans Light"/>
                <a:sym typeface="Roche Sans Light"/>
              </a:rPr>
              <a:t>Notice ss, ds, death not required</a:t>
            </a:r>
            <a:endParaRPr sz="823"/>
          </a:p>
        </p:txBody>
      </p:sp>
      <p:sp>
        <p:nvSpPr>
          <p:cNvPr id="242" name="Google Shape;242;p32"/>
          <p:cNvSpPr/>
          <p:nvPr/>
        </p:nvSpPr>
        <p:spPr>
          <a:xfrm rot="10541525">
            <a:off x="5867425" y="4232331"/>
            <a:ext cx="1553589" cy="22500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78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250" lIns="75250" spcFirstLastPara="1" rIns="75250" wrap="square" tIns="7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2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2375" y="1944499"/>
            <a:ext cx="4294274" cy="185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944499"/>
            <a:ext cx="4108325" cy="2843726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33"/>
          <p:cNvSpPr txBox="1"/>
          <p:nvPr>
            <p:ph idx="2" type="body"/>
          </p:nvPr>
        </p:nvSpPr>
        <p:spPr>
          <a:xfrm>
            <a:off x="282600" y="1466899"/>
            <a:ext cx="3980700" cy="4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rPr lang="en"/>
              <a:t>Internally, the correct chunks are identified and set up for the last alive date derivation (excluding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ds</a:t>
            </a:r>
            <a:r>
              <a:rPr lang="en"/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ss</a:t>
            </a:r>
            <a:r>
              <a:rPr lang="en"/>
              <a:t>)...</a:t>
            </a:r>
            <a:endParaRPr/>
          </a:p>
        </p:txBody>
      </p:sp>
      <p:sp>
        <p:nvSpPr>
          <p:cNvPr id="250" name="Google Shape;250;p33"/>
          <p:cNvSpPr txBox="1"/>
          <p:nvPr>
            <p:ph idx="2" type="body"/>
          </p:nvPr>
        </p:nvSpPr>
        <p:spPr>
          <a:xfrm>
            <a:off x="4732375" y="1466899"/>
            <a:ext cx="3980700" cy="4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rPr lang="en"/>
              <a:t>…to end up with the correct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LSTALVDT</a:t>
            </a:r>
            <a:r>
              <a:rPr lang="en"/>
              <a:t> block in the ADSL template!</a:t>
            </a:r>
            <a:endParaRPr/>
          </a:p>
        </p:txBody>
      </p:sp>
      <p:sp>
        <p:nvSpPr>
          <p:cNvPr id="251" name="Google Shape;251;p33"/>
          <p:cNvSpPr/>
          <p:nvPr/>
        </p:nvSpPr>
        <p:spPr>
          <a:xfrm rot="-3572">
            <a:off x="4102304" y="2805299"/>
            <a:ext cx="577500" cy="24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2" name="Google Shape;252;p33"/>
          <p:cNvSpPr/>
          <p:nvPr/>
        </p:nvSpPr>
        <p:spPr>
          <a:xfrm>
            <a:off x="571451" y="3251799"/>
            <a:ext cx="3841800" cy="3429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3" name="Google Shape;253;p33"/>
          <p:cNvSpPr/>
          <p:nvPr/>
        </p:nvSpPr>
        <p:spPr>
          <a:xfrm>
            <a:off x="4906475" y="2354499"/>
            <a:ext cx="4056300" cy="1260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4" name="Google Shape;254;p33"/>
          <p:cNvSpPr/>
          <p:nvPr/>
        </p:nvSpPr>
        <p:spPr>
          <a:xfrm>
            <a:off x="4906475" y="2480499"/>
            <a:ext cx="1084800" cy="5721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5" name="Google Shape;255;p33"/>
          <p:cNvSpPr txBox="1"/>
          <p:nvPr>
            <p:ph type="title"/>
          </p:nvPr>
        </p:nvSpPr>
        <p:spPr>
          <a:xfrm>
            <a:off x="304800" y="432675"/>
            <a:ext cx="81333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“dynamic” ADaM templates (2/2)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3"/>
          <p:cNvSpPr txBox="1"/>
          <p:nvPr/>
        </p:nvSpPr>
        <p:spPr>
          <a:xfrm>
            <a:off x="209951" y="1017375"/>
            <a:ext cx="5103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➡️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Let’s follow through the selection for </a:t>
            </a:r>
            <a:r>
              <a:rPr b="1" lang="en" u="sng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LSTALVDT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: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4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where did we get to?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62" name="Google Shape;262;p34"/>
          <p:cNvGraphicFramePr/>
          <p:nvPr/>
        </p:nvGraphicFramePr>
        <p:xfrm>
          <a:off x="824525" y="10556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{ECED062A-D991-45DC-B9B7-9121D6024991}</a:tableStyleId>
              </a:tblPr>
              <a:tblGrid>
                <a:gridCol w="1771100"/>
                <a:gridCol w="5790250"/>
              </a:tblGrid>
              <a:tr h="373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How are templates generated and served to the user?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1: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programs provided by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2: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 that writes 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Internal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 create_ad_adsl.R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script combines generic chunks to construct 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- still provided to users through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3: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 that writes code that writes code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pc="8">
                          <a:solidFill>
                            <a:srgbClr val="188038"/>
                          </a:solidFill>
                          <a:highlight>
                            <a:srgbClr val="FFFFFF"/>
                          </a:highlight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use_adsl_template()</a:t>
                      </a:r>
                      <a:r>
                        <a:rPr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functions dynamically generates </a:t>
                      </a:r>
                      <a:r>
                        <a:rPr i="1"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custom </a:t>
                      </a:r>
                      <a:r>
                        <a:rPr lang="en" spc="8">
                          <a:solidFill>
                            <a:srgbClr val="188038"/>
                          </a:solidFill>
                          <a:highlight>
                            <a:srgbClr val="FFFFFF"/>
                          </a:highlight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create_adsl.R</a:t>
                      </a:r>
                      <a:r>
                        <a:rPr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script by choosing chunks based on user input, this custom script is automatically executed to serve </a:t>
                      </a:r>
                      <a:r>
                        <a:rPr i="1"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custom </a:t>
                      </a:r>
                      <a:r>
                        <a:rPr lang="en" spc="8">
                          <a:solidFill>
                            <a:srgbClr val="188038"/>
                          </a:solidFill>
                          <a:highlight>
                            <a:srgbClr val="FFFFFF"/>
                          </a:highlight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to the user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263" name="Google Shape;263;p34"/>
          <p:cNvPicPr preferRelativeResize="0"/>
          <p:nvPr/>
        </p:nvPicPr>
        <p:blipFill rotWithShape="1">
          <a:blip r:embed="rId3">
            <a:alphaModFix/>
          </a:blip>
          <a:srcRect b="0" l="50157" r="0" t="52050"/>
          <a:stretch/>
        </p:blipFill>
        <p:spPr>
          <a:xfrm>
            <a:off x="3407200" y="3838025"/>
            <a:ext cx="2213350" cy="116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268" name="Google Shape;268;p35"/>
          <p:cNvSpPr txBox="1"/>
          <p:nvPr>
            <p:ph type="title"/>
          </p:nvPr>
        </p:nvSpPr>
        <p:spPr>
          <a:xfrm>
            <a:off x="628200" y="2207450"/>
            <a:ext cx="52137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Conclusion: Reflections and Further Work, Recommendations</a:t>
            </a:r>
            <a:endParaRPr/>
          </a:p>
        </p:txBody>
      </p:sp>
      <p:pic>
        <p:nvPicPr>
          <p:cNvPr id="269" name="Google Shape;26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6775" y="93500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6"/>
          <p:cNvSpPr txBox="1"/>
          <p:nvPr>
            <p:ph type="title"/>
          </p:nvPr>
        </p:nvSpPr>
        <p:spPr>
          <a:xfrm>
            <a:off x="306825" y="432675"/>
            <a:ext cx="76962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Reflections and Further Work</a:t>
            </a:r>
            <a:endParaRPr/>
          </a:p>
        </p:txBody>
      </p:sp>
      <p:sp>
        <p:nvSpPr>
          <p:cNvPr id="275" name="Google Shape;275;p36"/>
          <p:cNvSpPr txBox="1"/>
          <p:nvPr>
            <p:ph idx="2" type="body"/>
          </p:nvPr>
        </p:nvSpPr>
        <p:spPr>
          <a:xfrm>
            <a:off x="306825" y="1063150"/>
            <a:ext cx="8768400" cy="2610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🤔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Looking back…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It would have been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difficult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 to jump straight to stage 3</a:t>
            </a:r>
            <a:r>
              <a:rPr lang="en"/>
              <a:t> </a:t>
            </a:r>
            <a:r>
              <a:rPr i="1" lang="en"/>
              <a:t>(code that writes code that writes code) </a:t>
            </a:r>
            <a:r>
              <a:rPr lang="en"/>
              <a:t>because our learnings from previous stages influenced design decisions.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The end product is a great example of a case where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deterministic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automation trumps probabilistic AI</a:t>
            </a:r>
            <a:r>
              <a:rPr lang="en"/>
              <a:t>: we don’t have AI guessing what the ADaM code should be, rather we have a chunk library and use it to automatically build fit-for-purpose templates.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Initial script creation times for our users have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halved</a:t>
            </a:r>
            <a:r>
              <a:rPr lang="en"/>
              <a:t>, as has the maintenance load for {admiralroche} developers. 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💡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Looking forward…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AI agents could read specifications and make selections for users.</a:t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300"/>
              </a:spcAft>
              <a:buSzPts val="1200"/>
              <a:buChar char="■"/>
            </a:pPr>
            <a:r>
              <a:rPr lang="en"/>
              <a:t>Exposing statistical programmers to some of this infrastructure, allowing them</a:t>
            </a:r>
            <a:r>
              <a:rPr lang="en"/>
              <a:t> to make their own chunks, to maintain study-specifics at higher level such as across-molecule or TA</a:t>
            </a:r>
            <a:r>
              <a:rPr lang="en"/>
              <a:t> - maybe this is Stage 4 😮</a:t>
            </a:r>
            <a:endParaRPr/>
          </a:p>
        </p:txBody>
      </p:sp>
      <p:pic>
        <p:nvPicPr>
          <p:cNvPr id="276" name="Google Shape;276;p36"/>
          <p:cNvPicPr preferRelativeResize="0"/>
          <p:nvPr/>
        </p:nvPicPr>
        <p:blipFill rotWithShape="1">
          <a:blip r:embed="rId3">
            <a:alphaModFix/>
          </a:blip>
          <a:srcRect b="34163" l="0" r="50000" t="0"/>
          <a:stretch/>
        </p:blipFill>
        <p:spPr>
          <a:xfrm>
            <a:off x="354550" y="4023125"/>
            <a:ext cx="1416532" cy="101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6"/>
          <p:cNvPicPr preferRelativeResize="0"/>
          <p:nvPr/>
        </p:nvPicPr>
        <p:blipFill rotWithShape="1">
          <a:blip r:embed="rId3">
            <a:alphaModFix/>
          </a:blip>
          <a:srcRect b="0" l="50157" r="0" t="52050"/>
          <a:stretch/>
        </p:blipFill>
        <p:spPr>
          <a:xfrm>
            <a:off x="6604619" y="4023125"/>
            <a:ext cx="1938806" cy="101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6"/>
          <p:cNvPicPr preferRelativeResize="0"/>
          <p:nvPr/>
        </p:nvPicPr>
        <p:blipFill rotWithShape="1">
          <a:blip r:embed="rId3">
            <a:alphaModFix/>
          </a:blip>
          <a:srcRect b="49930" l="50293" r="0" t="0"/>
          <a:stretch/>
        </p:blipFill>
        <p:spPr>
          <a:xfrm>
            <a:off x="3197633" y="4023125"/>
            <a:ext cx="1851707" cy="1018224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6"/>
          <p:cNvSpPr/>
          <p:nvPr/>
        </p:nvSpPr>
        <p:spPr>
          <a:xfrm rot="-2809">
            <a:off x="1924044" y="4310287"/>
            <a:ext cx="1101300" cy="282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109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4925" lIns="104925" spcFirstLastPara="1" rIns="104925" wrap="square" tIns="104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7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80" name="Google Shape;280;p36"/>
          <p:cNvSpPr/>
          <p:nvPr/>
        </p:nvSpPr>
        <p:spPr>
          <a:xfrm rot="-3342">
            <a:off x="5197917" y="4310258"/>
            <a:ext cx="1234201" cy="282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109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4925" lIns="104925" spcFirstLastPara="1" rIns="104925" wrap="square" tIns="104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7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7"/>
          <p:cNvSpPr txBox="1"/>
          <p:nvPr>
            <p:ph type="title"/>
          </p:nvPr>
        </p:nvSpPr>
        <p:spPr>
          <a:xfrm>
            <a:off x="306825" y="432675"/>
            <a:ext cx="76962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Recommendations</a:t>
            </a:r>
            <a:endParaRPr/>
          </a:p>
        </p:txBody>
      </p:sp>
      <p:sp>
        <p:nvSpPr>
          <p:cNvPr id="286" name="Google Shape;286;p37"/>
          <p:cNvSpPr txBox="1"/>
          <p:nvPr>
            <p:ph idx="2" type="body"/>
          </p:nvPr>
        </p:nvSpPr>
        <p:spPr>
          <a:xfrm>
            <a:off x="306825" y="1063150"/>
            <a:ext cx="5682000" cy="297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You can easily set up your own {admiral&lt;company&gt;} package to begin with, at the very least to provide your users with templates that are a close starting point for their ADaMs.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These templates should be allowed to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grow organically and stabilise</a:t>
            </a:r>
            <a:r>
              <a:rPr lang="en"/>
              <a:t> before you attempt to abstract further.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Don’t underestimate the importance of setting up a package like {scriptr} as the automation engine.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A set of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mature and stable company ADaM implementation standards</a:t>
            </a:r>
            <a:r>
              <a:rPr lang="en"/>
              <a:t> </a:t>
            </a:r>
            <a:r>
              <a:rPr lang="en"/>
              <a:t>is just as important as your R package.</a:t>
            </a:r>
            <a:endParaRPr/>
          </a:p>
        </p:txBody>
      </p:sp>
      <p:pic>
        <p:nvPicPr>
          <p:cNvPr id="287" name="Google Shape;28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59475" y="1633331"/>
            <a:ext cx="1768500" cy="2048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8"/>
          <p:cNvSpPr txBox="1"/>
          <p:nvPr>
            <p:ph type="title"/>
          </p:nvPr>
        </p:nvSpPr>
        <p:spPr>
          <a:xfrm>
            <a:off x="306825" y="432675"/>
            <a:ext cx="76962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listening!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38"/>
          <p:cNvSpPr txBox="1"/>
          <p:nvPr>
            <p:ph idx="2" type="body"/>
          </p:nvPr>
        </p:nvSpPr>
        <p:spPr>
          <a:xfrm>
            <a:off x="306825" y="1405375"/>
            <a:ext cx="3665400" cy="249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Special thank you to Stefan Bundfuss for his invaluable expertise and leadership as lead developer on {admiralroche} and {scriptr}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Thank you to Roche for allowing us to deliver this talk.</a:t>
            </a:r>
            <a:endParaRPr/>
          </a:p>
        </p:txBody>
      </p:sp>
      <p:pic>
        <p:nvPicPr>
          <p:cNvPr id="294" name="Google Shape;29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7150" y="1405375"/>
            <a:ext cx="3329268" cy="2496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oche Evolved Brand">
  <a:themeElements>
    <a:clrScheme name="Custom">
      <a:dk1>
        <a:srgbClr val="0B41CD"/>
      </a:dk1>
      <a:lt1>
        <a:srgbClr val="1482FA"/>
      </a:lt1>
      <a:dk2>
        <a:srgbClr val="BDE3FF"/>
      </a:dk2>
      <a:lt2>
        <a:srgbClr val="FAC9B5"/>
      </a:lt2>
      <a:accent1>
        <a:srgbClr val="ED4A0D"/>
      </a:accent1>
      <a:accent2>
        <a:srgbClr val="BC36F0"/>
      </a:accent2>
      <a:accent3>
        <a:srgbClr val="C40000"/>
      </a:accent3>
      <a:accent4>
        <a:srgbClr val="022366"/>
      </a:accent4>
      <a:accent5>
        <a:srgbClr val="FAD6C7"/>
      </a:accent5>
      <a:accent6>
        <a:srgbClr val="FFE8DE"/>
      </a:accent6>
      <a:hlink>
        <a:srgbClr val="0B41CD"/>
      </a:hlink>
      <a:folHlink>
        <a:srgbClr val="0B41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